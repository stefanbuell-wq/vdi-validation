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  <p:sldMasterId id="2147483729" r:id="rId5"/>
  </p:sldMasterIdLst>
  <p:notesMasterIdLst>
    <p:notesMasterId r:id="rId23"/>
  </p:notesMasterIdLst>
  <p:handoutMasterIdLst>
    <p:handoutMasterId r:id="rId24"/>
  </p:handoutMasterIdLst>
  <p:sldIdLst>
    <p:sldId id="292" r:id="rId6"/>
    <p:sldId id="296" r:id="rId7"/>
    <p:sldId id="297" r:id="rId8"/>
    <p:sldId id="300" r:id="rId9"/>
    <p:sldId id="301" r:id="rId10"/>
    <p:sldId id="305" r:id="rId11"/>
    <p:sldId id="306" r:id="rId12"/>
    <p:sldId id="308" r:id="rId13"/>
    <p:sldId id="309" r:id="rId14"/>
    <p:sldId id="310" r:id="rId15"/>
    <p:sldId id="307" r:id="rId16"/>
    <p:sldId id="302" r:id="rId17"/>
    <p:sldId id="312" r:id="rId18"/>
    <p:sldId id="313" r:id="rId19"/>
    <p:sldId id="311" r:id="rId20"/>
    <p:sldId id="303" r:id="rId21"/>
    <p:sldId id="298" r:id="rId22"/>
  </p:sldIdLst>
  <p:sldSz cx="12192000" cy="6858000"/>
  <p:notesSz cx="6858000" cy="9144000"/>
  <p:embeddedFontLst>
    <p:embeddedFont>
      <p:font typeface="AOK Buenos Aires" pitchFamily="50" charset="0"/>
      <p:regular r:id="rId25"/>
      <p:bold r:id="rId26"/>
      <p:italic r:id="rId27"/>
      <p:boldItalic r:id="rId28"/>
    </p:embeddedFont>
    <p:embeddedFont>
      <p:font typeface="AOK Buenos Aires SemiBold" pitchFamily="50" charset="0"/>
      <p:bold r:id="rId29"/>
      <p:boldItalic r:id="rId30"/>
    </p:embeddedFont>
  </p:embeddedFontLst>
  <p:defaultTextStyle>
    <a:defPPr>
      <a:defRPr lang="de-DE"/>
    </a:defPPr>
    <a:lvl1pPr marL="0" indent="0" algn="l" defTabSz="914400" rtl="0" eaLnBrk="1" latinLnBrk="0" hangingPunct="1">
      <a:lnSpc>
        <a:spcPct val="110000"/>
      </a:lnSpc>
      <a:spcBef>
        <a:spcPts val="200"/>
      </a:spcBef>
      <a:buFontTx/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ClrTx/>
      <a:buFont typeface="AOK Buenos Aires" pitchFamily="50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ClrTx/>
      <a:buFont typeface="AOK Buenos Aires" pitchFamily="50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50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50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92C70-3846-4616-874B-E6971A15D1F0}" v="808" dt="2026-01-20T12:41:32.676"/>
    <p1510:client id="{BB117FC3-2B74-45F1-9CDC-DF161582B965}" v="21" dt="2026-01-21T07:30:41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microsoft.com/office/2015/10/relationships/revisionInfo" Target="revisionInfo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4D45621-570F-4B01-BD50-E79AAC2B84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9433FF-4377-4C47-918B-9E6287F125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8D6E-6120-4A44-A25C-8C5BB507A9D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FD5EFD-C73F-4D9A-BDD9-0FB3E0E190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C065E1-2854-4644-8BE6-64B85ADB97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0922B-AC95-407B-9A06-1A1351A81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322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C25A4-331B-4CD4-95C4-89EEB4BFD759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88927-22E3-4DE7-94E5-F2F2BC8A84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8350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dunk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87090275-15F6-4A50-A0B3-D8838A69A8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4115" y="-4266"/>
            <a:ext cx="12196115" cy="6862266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440F751-F1B1-4184-AC41-4E5522B1A3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31813" y="1603429"/>
            <a:ext cx="11091861" cy="2111066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24" name="Untertitel 2">
            <a:extLst>
              <a:ext uri="{FF2B5EF4-FFF2-40B4-BE49-F238E27FC236}">
                <a16:creationId xmlns:a16="http://schemas.microsoft.com/office/drawing/2014/main" id="{08777931-BF26-4942-B1F5-57DA3641EC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1813" y="3704400"/>
            <a:ext cx="11091861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45396BF-EB95-4D09-ABF2-4AFD80702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9777970" y="366293"/>
            <a:ext cx="1845705" cy="5707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F6632B2-A494-4AB8-9BCC-FFAE08706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31812" y="5246997"/>
            <a:ext cx="5564187" cy="284630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Version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9230BAAB-54DA-490F-BA29-38E12562BA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876309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Geschäftsbereich</a:t>
            </a:r>
          </a:p>
          <a:p>
            <a:pPr lvl="0"/>
            <a:r>
              <a:rPr lang="de-DE"/>
              <a:t>Datum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FD6A970-D93E-4FF9-BCE5-70F9A58E37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4946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AOK. Die Gesundheitskasse.</a:t>
            </a:r>
          </a:p>
        </p:txBody>
      </p:sp>
    </p:spTree>
    <p:extLst>
      <p:ext uri="{BB962C8B-B14F-4D97-AF65-F5344CB8AC3E}">
        <p14:creationId xmlns:p14="http://schemas.microsoft.com/office/powerpoint/2010/main" val="3944092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hel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87090275-15F6-4A50-A0B3-D8838A69A8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4115" y="-4266"/>
            <a:ext cx="12196115" cy="6862266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440F751-F1B1-4184-AC41-4E5522B1A3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31813" y="1603429"/>
            <a:ext cx="11091861" cy="2111066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24" name="Untertitel 2">
            <a:extLst>
              <a:ext uri="{FF2B5EF4-FFF2-40B4-BE49-F238E27FC236}">
                <a16:creationId xmlns:a16="http://schemas.microsoft.com/office/drawing/2014/main" id="{08777931-BF26-4942-B1F5-57DA3641EC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1813" y="3704400"/>
            <a:ext cx="11091861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F6632B2-A494-4AB8-9BCC-FFAE08706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31812" y="5246997"/>
            <a:ext cx="5564187" cy="284630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Version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9230BAAB-54DA-490F-BA29-38E12562BA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876309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Geschäftsbereich</a:t>
            </a:r>
          </a:p>
          <a:p>
            <a:pPr lvl="0"/>
            <a:r>
              <a:rPr lang="de-DE"/>
              <a:t>Datum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FD6A970-D93E-4FF9-BCE5-70F9A58E37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4946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/>
              <a:t>AOK. Die Gesundheitskasse.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9CD1AE9B-6958-409B-AEED-0BAF23EEAE2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77600" y="367200"/>
            <a:ext cx="1847708" cy="572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846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grüner Hintergru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F1EB57C-FB95-48A1-950A-4CF0256B66F8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 err="1">
              <a:solidFill>
                <a:schemeClr val="bg1"/>
              </a:solidFill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440F751-F1B1-4184-AC41-4E5522B1A3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31813" y="1494000"/>
            <a:ext cx="11083193" cy="149579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24" name="Untertitel 2">
            <a:extLst>
              <a:ext uri="{FF2B5EF4-FFF2-40B4-BE49-F238E27FC236}">
                <a16:creationId xmlns:a16="http://schemas.microsoft.com/office/drawing/2014/main" id="{08777931-BF26-4942-B1F5-57DA3641EC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1813" y="2977200"/>
            <a:ext cx="11091861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45396BF-EB95-4D09-ABF2-4AFD807028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9777970" y="366293"/>
            <a:ext cx="1845705" cy="5707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F6632B2-A494-4AB8-9BCC-FFAE08706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31812" y="4521600"/>
            <a:ext cx="5564187" cy="284630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Version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9230BAAB-54DA-490F-BA29-38E12562BA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876309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Geschäftsbereich</a:t>
            </a:r>
          </a:p>
          <a:p>
            <a:pPr lvl="0"/>
            <a:r>
              <a:rPr lang="de-DE"/>
              <a:t>Datum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FD6A970-D93E-4FF9-BCE5-70F9A58E37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4946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AOK. Die Gesundheitskasse.</a:t>
            </a:r>
          </a:p>
        </p:txBody>
      </p:sp>
    </p:spTree>
    <p:extLst>
      <p:ext uri="{BB962C8B-B14F-4D97-AF65-F5344CB8AC3E}">
        <p14:creationId xmlns:p14="http://schemas.microsoft.com/office/powerpoint/2010/main" val="2893358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 1">
            <a:extLst>
              <a:ext uri="{FF2B5EF4-FFF2-40B4-BE49-F238E27FC236}">
                <a16:creationId xmlns:a16="http://schemas.microsoft.com/office/drawing/2014/main" id="{4440F751-F1B1-4184-AC41-4E5522B1A3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31813" y="1494000"/>
            <a:ext cx="11083193" cy="149579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24" name="Untertitel 2">
            <a:extLst>
              <a:ext uri="{FF2B5EF4-FFF2-40B4-BE49-F238E27FC236}">
                <a16:creationId xmlns:a16="http://schemas.microsoft.com/office/drawing/2014/main" id="{08777931-BF26-4942-B1F5-57DA3641EC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1813" y="2977200"/>
            <a:ext cx="11091861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F6632B2-A494-4AB8-9BCC-FFAE08706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31812" y="4521600"/>
            <a:ext cx="5564188" cy="284630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Version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9230BAAB-54DA-490F-BA29-38E12562BA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876309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Geschäftsbereich</a:t>
            </a:r>
          </a:p>
          <a:p>
            <a:pPr lvl="0"/>
            <a:r>
              <a:rPr lang="de-DE"/>
              <a:t>Datum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FD6A970-D93E-4FF9-BCE5-70F9A58E37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4946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/>
              <a:t>AOK. Die Gesundheitskasse.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0E50EA1-DE3B-4EE3-9C89-54A973707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00" y="367200"/>
            <a:ext cx="1847708" cy="5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79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grün mit Bild rechts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C5D2399-B72C-459F-A7BA-310AFD0615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82590" y="0"/>
            <a:ext cx="6009409" cy="6858000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F07EB19-265A-42E0-A495-94727F79BED8}"/>
              </a:ext>
            </a:extLst>
          </p:cNvPr>
          <p:cNvSpPr/>
          <p:nvPr/>
        </p:nvSpPr>
        <p:spPr>
          <a:xfrm>
            <a:off x="0" y="0"/>
            <a:ext cx="61825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CDD8C261-14CD-41F2-8438-8767709F8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876309" y="6036450"/>
            <a:ext cx="3747366" cy="518091"/>
          </a:xfrm>
          <a:noFill/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Geschäftsbereich</a:t>
            </a:r>
          </a:p>
          <a:p>
            <a:pPr lvl="0"/>
            <a:r>
              <a:rPr lang="de-DE"/>
              <a:t>Datum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C0D7BFB-D231-4519-8F2B-8CC98C548B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4946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AOK. Die Gesundheitskasse.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EFBEBADF-57C3-4FCA-A056-47D977B531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34946" y="521195"/>
            <a:ext cx="1809288" cy="55945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13D2689-086F-4081-85FF-0294A8379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34946" y="1521278"/>
            <a:ext cx="5112000" cy="15696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FDF15B46-0E4D-4410-B1FA-F68A4F7E5C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4946" y="3078000"/>
            <a:ext cx="5112000" cy="110799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A7641F7D-765B-444D-9B02-EBB4B005AD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34945" y="4233735"/>
            <a:ext cx="5112000" cy="284630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Version </a:t>
            </a:r>
          </a:p>
        </p:txBody>
      </p:sp>
    </p:spTree>
    <p:extLst>
      <p:ext uri="{BB962C8B-B14F-4D97-AF65-F5344CB8AC3E}">
        <p14:creationId xmlns:p14="http://schemas.microsoft.com/office/powerpoint/2010/main" val="457274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29" userDrawn="1">
          <p15:clr>
            <a:srgbClr val="FBAE40"/>
          </p15:clr>
        </p15:guide>
        <p15:guide id="2" pos="3896" userDrawn="1">
          <p15:clr>
            <a:srgbClr val="FBAE40"/>
          </p15:clr>
        </p15:guide>
        <p15:guide id="3" pos="355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weiß 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C5D2399-B72C-459F-A7BA-310AFD0615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72200" y="0"/>
            <a:ext cx="6019800" cy="6858000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B716A4D0-27B2-44CE-BCBE-2BC27AB46E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876309" y="6036450"/>
            <a:ext cx="3747366" cy="518091"/>
          </a:xfrm>
          <a:noFill/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Geschäftsbereich</a:t>
            </a:r>
          </a:p>
          <a:p>
            <a:pPr lvl="0"/>
            <a:r>
              <a:rPr lang="de-DE"/>
              <a:t>Datum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33ED22B-5409-4DE9-A940-B5EE90A352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1813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/>
              <a:t>AOK. Die Gesundheitskasse.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7E0875-4B7E-4E1A-B909-136FFFEDB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31813" y="521196"/>
            <a:ext cx="1805934" cy="55945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ADE93C4-AFB8-4501-BB5F-9ADF0ECE98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34946" y="1521278"/>
            <a:ext cx="5112000" cy="15696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C8C72064-69F4-41A2-BE07-D0B4C54B7E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4945" y="3078000"/>
            <a:ext cx="5112000" cy="110799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FE5C9651-C8CB-4CC4-A903-1A98FA8C14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34945" y="4233735"/>
            <a:ext cx="5112000" cy="284630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Version </a:t>
            </a:r>
          </a:p>
        </p:txBody>
      </p:sp>
    </p:spTree>
    <p:extLst>
      <p:ext uri="{BB962C8B-B14F-4D97-AF65-F5344CB8AC3E}">
        <p14:creationId xmlns:p14="http://schemas.microsoft.com/office/powerpoint/2010/main" val="346996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1" userDrawn="1">
          <p15:clr>
            <a:srgbClr val="FBAE40"/>
          </p15:clr>
        </p15:guide>
        <p15:guide id="2" pos="3886" userDrawn="1">
          <p15:clr>
            <a:srgbClr val="FBAE40"/>
          </p15:clr>
        </p15:guide>
        <p15:guide id="3" pos="35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E20627DD-CF1A-45B3-81AB-34B5BEA2E904}"/>
              </a:ext>
            </a:extLst>
          </p:cNvPr>
          <p:cNvSpPr>
            <a:spLocks noGrp="1"/>
          </p:cNvSpPr>
          <p:nvPr>
            <p:ph sz="quarter" idx="20"/>
          </p:nvPr>
        </p:nvSpPr>
        <p:spPr bwMode="gray">
          <a:xfrm>
            <a:off x="535781" y="1592869"/>
            <a:ext cx="11086951" cy="4248000"/>
          </a:xfrm>
        </p:spPr>
        <p:txBody>
          <a:bodyPr numCol="1" spcCol="0"/>
          <a:lstStyle>
            <a:lvl1pPr marL="431989" indent="-431989">
              <a:spcBef>
                <a:spcPts val="12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j-lt"/>
              </a:defRPr>
            </a:lvl1pPr>
            <a:lvl2pPr marL="864000" indent="-432000">
              <a:spcBef>
                <a:spcPts val="3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864000" indent="-432000">
              <a:spcBef>
                <a:spcPts val="300"/>
              </a:spcBef>
              <a:buFont typeface="Arial" panose="020B0604020202020204" pitchFamily="34" charset="0"/>
              <a:buChar char="•"/>
              <a:defRPr sz="1800"/>
            </a:lvl3pPr>
            <a:lvl4pPr marL="864000" indent="-432000">
              <a:spcBef>
                <a:spcPts val="300"/>
              </a:spcBef>
              <a:buFont typeface="Arial" panose="020B0604020202020204" pitchFamily="34" charset="0"/>
              <a:buChar char="•"/>
              <a:defRPr sz="1800"/>
            </a:lvl4pPr>
            <a:lvl5pPr marL="864000" indent="-432000">
              <a:spcBef>
                <a:spcPts val="300"/>
              </a:spcBef>
              <a:buFont typeface="Arial" panose="020B0604020202020204" pitchFamily="34" charset="0"/>
              <a:buChar char="•"/>
              <a:defRPr sz="1800"/>
            </a:lvl5pPr>
            <a:lvl6pPr marL="864000" indent="-432000">
              <a:spcBef>
                <a:spcPts val="300"/>
              </a:spcBef>
              <a:buFont typeface="Arial" panose="020B0604020202020204" pitchFamily="34" charset="0"/>
              <a:buChar char="•"/>
              <a:defRPr/>
            </a:lvl6pPr>
            <a:lvl7pPr marL="864000" indent="-432000">
              <a:spcBef>
                <a:spcPts val="300"/>
              </a:spcBef>
              <a:buFont typeface="Arial" panose="020B0604020202020204" pitchFamily="34" charset="0"/>
              <a:buChar char="•"/>
              <a:defRPr/>
            </a:lvl7pPr>
            <a:lvl8pPr marL="864000" indent="-432000">
              <a:spcBef>
                <a:spcPts val="300"/>
              </a:spcBef>
              <a:buFont typeface="Arial" panose="020B0604020202020204" pitchFamily="34" charset="0"/>
              <a:buChar char="•"/>
              <a:defRPr/>
            </a:lvl8pPr>
            <a:lvl9pPr marL="864000" indent="-432000">
              <a:spcBef>
                <a:spcPts val="300"/>
              </a:spcBef>
              <a:buFont typeface="Arial" panose="020B0604020202020204" pitchFamily="34" charset="0"/>
              <a:buChar char="•"/>
              <a:defRPr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A780F4-4A38-4E47-B4FE-99012AA78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Agenda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AF0E93-CC53-44C3-97C9-8529FB535281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5EE86C-142C-40D1-B08A-473CF53E78E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998CD6-56E8-42E0-8BC9-CFFC089AECA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700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2" userDrawn="1">
          <p15:clr>
            <a:srgbClr val="FBAE40"/>
          </p15:clr>
        </p15:guide>
        <p15:guide id="2" orient="horz" pos="4089" userDrawn="1">
          <p15:clr>
            <a:srgbClr val="FBAE40"/>
          </p15:clr>
        </p15:guide>
        <p15:guide id="3" orient="horz" pos="77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dunk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804AA01-EE90-431B-8719-89B12245BD0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382"/>
            <a:ext cx="12192000" cy="6858000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B1D75816-A06C-40DE-ADE2-C02E24C9C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86391" y="6218517"/>
            <a:ext cx="103425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36F6450-F02E-42DA-A75E-DAF6A54D03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B9F7BF-39C7-4B47-AE9C-FE706CF0C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rgbClr val="50EB5D"/>
                </a:solidFill>
              </a:defRPr>
            </a:lvl1pPr>
          </a:lstStyle>
          <a:p>
            <a:r>
              <a:rPr lang="de-DE" err="1"/>
              <a:t>Kapiteltrenner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646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0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hel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804AA01-EE90-431B-8719-89B12245BD0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5820C90E-2107-4D6E-B0AA-34BA9BE63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A6E9A9-32DD-42BB-A859-692C2CC93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err="1"/>
              <a:t>Kapiteltrenner</a:t>
            </a:r>
            <a:endParaRPr lang="de-DE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1229B49-CD6C-4FFD-ACB2-D634CAC2B9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92346" y="6218514"/>
            <a:ext cx="103425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8775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0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8">
            <a:extLst>
              <a:ext uri="{FF2B5EF4-FFF2-40B4-BE49-F238E27FC236}">
                <a16:creationId xmlns:a16="http://schemas.microsoft.com/office/drawing/2014/main" id="{12C76DED-8CDE-4257-8430-7853A465D7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54DA53-6857-4927-9C7E-C7350EFBD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err="1"/>
              <a:t>Kapiteltrenner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B8CBCBB-3C22-40AF-93E0-0E02BC1A72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92346" y="6220903"/>
            <a:ext cx="103425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713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0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großes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31C813A-28B1-41D5-9A02-75841D67083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8D2DE6C8-6E8E-401E-BAA5-A15206F652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579476" y="1864800"/>
            <a:ext cx="5042613" cy="69084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328135-CC96-4D0F-84A2-560A1267C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79475" y="2555645"/>
            <a:ext cx="5042614" cy="3149195"/>
          </a:xfrm>
        </p:spPr>
        <p:txBody>
          <a:bodyPr anchor="t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err="1"/>
              <a:t>Kapiteltrenner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45644074-5363-49B8-ABBD-A59ED1E47B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92346" y="6220015"/>
            <a:ext cx="103425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73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44" userDrawn="1">
          <p15:clr>
            <a:srgbClr val="FBAE40"/>
          </p15:clr>
        </p15:guide>
        <p15:guide id="2" pos="383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0C8BD9AA-4F7F-4866-9C5F-3D171AB308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531813" y="1589664"/>
            <a:ext cx="10080000" cy="4249161"/>
          </a:xfrm>
        </p:spPr>
        <p:txBody>
          <a:bodyPr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defRPr/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5pPr>
          </a:lstStyle>
          <a:p>
            <a:pPr lvl="0"/>
            <a:r>
              <a:rPr lang="de-DE"/>
              <a:t>Inhalt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6206876-2874-465A-B06B-FB81D809FF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1813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321C79-7D6E-4AFD-9783-7306A6DEDA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1CE237-0992-49CC-84FF-F035C364948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3EDCF37-3FDC-4CA9-A13E-C52A81FD286A}" type="datetime1">
              <a:rPr lang="de-DE" smtClean="0"/>
              <a:t>21.01.2026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42189DB-8D6D-494F-AB0E-E90A345B4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CA03005-AFAC-4100-B52E-ADF9FBCDB67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637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6684" userDrawn="1">
          <p15:clr>
            <a:srgbClr val="FBAE40"/>
          </p15:clr>
        </p15:guide>
        <p15:guide id="3" orient="horz" pos="4088" userDrawn="1">
          <p15:clr>
            <a:srgbClr val="FBAE40"/>
          </p15:clr>
        </p15:guide>
        <p15:guide id="4" orient="horz" pos="100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groß, Kicker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A3D437-B1BA-41E4-B877-9BC189FB41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26257" y="5135622"/>
            <a:ext cx="10084594" cy="712950"/>
          </a:xfrm>
        </p:spPr>
        <p:txBody>
          <a:bodyPr lIns="612000" anchor="ctr" anchorCtr="0"/>
          <a:lstStyle>
            <a:lvl1pPr>
              <a:defRPr/>
            </a:lvl1pPr>
            <a:lvl3pPr marL="180000" indent="0">
              <a:buNone/>
              <a:defRPr/>
            </a:lvl3pPr>
          </a:lstStyle>
          <a:p>
            <a:pPr lvl="0"/>
            <a:r>
              <a:rPr lang="de-DE" err="1"/>
              <a:t>Kickerbox</a:t>
            </a:r>
            <a:endParaRPr lang="de-DE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0C8BD9AA-4F7F-4866-9C5F-3D171AB308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531813" y="1589665"/>
            <a:ext cx="10080000" cy="3402528"/>
          </a:xfrm>
        </p:spPr>
        <p:txBody>
          <a:bodyPr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defRPr/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5pPr>
          </a:lstStyle>
          <a:p>
            <a:pPr lvl="0"/>
            <a:r>
              <a:rPr lang="de-DE"/>
              <a:t>Inhalt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6206876-2874-465A-B06B-FB81D809FF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1813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321C79-7D6E-4AFD-9783-7306A6DEDA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1CE237-0992-49CC-84FF-F035C364948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1BB4BDF-19A4-40CA-AA43-D3597F58FE92}" type="datetime1">
              <a:rPr lang="de-DE" smtClean="0"/>
              <a:t>21.01.2026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42189DB-8D6D-494F-AB0E-E90A345B4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CA03005-AFAC-4100-B52E-ADF9FBCDB67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C5F9AE88-654B-43AC-A33A-4670BD3FF884}"/>
              </a:ext>
            </a:extLst>
          </p:cNvPr>
          <p:cNvCxnSpPr>
            <a:cxnSpLocks/>
          </p:cNvCxnSpPr>
          <p:nvPr/>
        </p:nvCxnSpPr>
        <p:spPr bwMode="gray">
          <a:xfrm>
            <a:off x="531813" y="5118876"/>
            <a:ext cx="10080000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ihandform 150">
            <a:extLst>
              <a:ext uri="{FF2B5EF4-FFF2-40B4-BE49-F238E27FC236}">
                <a16:creationId xmlns:a16="http://schemas.microsoft.com/office/drawing/2014/main" id="{BD7A5D52-929C-4461-8B7D-F156BB37A9F6}"/>
              </a:ext>
            </a:extLst>
          </p:cNvPr>
          <p:cNvSpPr/>
          <p:nvPr/>
        </p:nvSpPr>
        <p:spPr bwMode="gray">
          <a:xfrm flipH="1">
            <a:off x="704452" y="5262306"/>
            <a:ext cx="230982" cy="459582"/>
          </a:xfrm>
          <a:custGeom>
            <a:avLst/>
            <a:gdLst>
              <a:gd name="connsiteX0" fmla="*/ 228600 w 230982"/>
              <a:gd name="connsiteY0" fmla="*/ 0 h 459582"/>
              <a:gd name="connsiteX1" fmla="*/ 0 w 230982"/>
              <a:gd name="connsiteY1" fmla="*/ 228600 h 459582"/>
              <a:gd name="connsiteX2" fmla="*/ 230982 w 230982"/>
              <a:gd name="connsiteY2" fmla="*/ 459582 h 459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982" h="459582">
                <a:moveTo>
                  <a:pt x="228600" y="0"/>
                </a:moveTo>
                <a:lnTo>
                  <a:pt x="0" y="228600"/>
                </a:lnTo>
                <a:lnTo>
                  <a:pt x="230982" y="459582"/>
                </a:lnTo>
              </a:path>
            </a:pathLst>
          </a:custGeom>
          <a:noFill/>
          <a:ln w="50800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658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6684" userDrawn="1">
          <p15:clr>
            <a:srgbClr val="FBAE40"/>
          </p15:clr>
        </p15:guide>
        <p15:guide id="3" orient="horz" pos="4088" userDrawn="1">
          <p15:clr>
            <a:srgbClr val="FBAE40"/>
          </p15:clr>
        </p15:guide>
        <p15:guide id="4" orient="horz" pos="100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groß, grüne Kicker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A3D437-B1BA-41E4-B877-9BC189FB41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26256" y="5348371"/>
            <a:ext cx="10084594" cy="490454"/>
          </a:xfrm>
          <a:prstGeom prst="roundRect">
            <a:avLst/>
          </a:prstGeom>
          <a:solidFill>
            <a:schemeClr val="bg2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  <a:lvl3pPr marL="180000" indent="0">
              <a:buNone/>
              <a:defRPr/>
            </a:lvl3pPr>
          </a:lstStyle>
          <a:p>
            <a:pPr lvl="0"/>
            <a:r>
              <a:rPr lang="de-DE" err="1"/>
              <a:t>Kickerbox</a:t>
            </a:r>
            <a:endParaRPr lang="de-DE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0C8BD9AA-4F7F-4866-9C5F-3D171AB308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531813" y="1589664"/>
            <a:ext cx="10080000" cy="3630921"/>
          </a:xfrm>
        </p:spPr>
        <p:txBody>
          <a:bodyPr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defRPr/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5pPr>
          </a:lstStyle>
          <a:p>
            <a:pPr lvl="0"/>
            <a:r>
              <a:rPr lang="de-DE"/>
              <a:t>Inhalt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6206876-2874-465A-B06B-FB81D809FF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1813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321C79-7D6E-4AFD-9783-7306A6DEDA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1CE237-0992-49CC-84FF-F035C364948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B96B524-C05D-42BF-AA59-A1B7CDFDB04C}" type="datetime1">
              <a:rPr lang="de-DE" smtClean="0"/>
              <a:t>21.01.2026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42189DB-8D6D-494F-AB0E-E90A345B4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CA03005-AFAC-4100-B52E-ADF9FBCDB67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110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6684" userDrawn="1">
          <p15:clr>
            <a:srgbClr val="FBAE40"/>
          </p15:clr>
        </p15:guide>
        <p15:guide id="3" orient="horz" pos="4088" userDrawn="1">
          <p15:clr>
            <a:srgbClr val="FBAE40"/>
          </p15:clr>
        </p15:guide>
        <p15:guide id="4" orient="horz" pos="100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vier Untertitel,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B5204-18CC-4396-85F3-2D2D8E4C7ABC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70E1B53-3F2D-452D-9A86-A1F79C07559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534194" y="2023583"/>
            <a:ext cx="5364000" cy="1440000"/>
          </a:xfrm>
        </p:spPr>
        <p:txBody>
          <a:bodyPr lIns="108000" tIns="144000" rIns="108000"/>
          <a:lstStyle>
            <a:lvl1pPr>
              <a:defRPr/>
            </a:lvl1pPr>
          </a:lstStyle>
          <a:p>
            <a:pPr lvl="0"/>
            <a:r>
              <a:rPr lang="de-DE"/>
              <a:t>Inhalt</a:t>
            </a:r>
          </a:p>
        </p:txBody>
      </p:sp>
      <p:sp>
        <p:nvSpPr>
          <p:cNvPr id="10" name="Inhaltsplatzhalter 11">
            <a:extLst>
              <a:ext uri="{FF2B5EF4-FFF2-40B4-BE49-F238E27FC236}">
                <a16:creationId xmlns:a16="http://schemas.microsoft.com/office/drawing/2014/main" id="{229779A9-DC1E-5445-A3DD-6FF44511FBB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534194" y="1591583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FDB32CE9-56CA-7042-8AD0-6D1E638EFB8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gray">
          <a:xfrm>
            <a:off x="534194" y="4398842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6E09E056-EFE2-7F4A-AA44-78803AC166E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 bwMode="gray">
          <a:xfrm>
            <a:off x="534194" y="3966842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535A4A83-695C-3F48-8F36-FE76679C0BF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 bwMode="gray">
          <a:xfrm>
            <a:off x="6259264" y="2023583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528CBD0B-4546-4448-B03A-7041BE95FAE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 bwMode="gray">
          <a:xfrm>
            <a:off x="6259264" y="1591583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624AA3E7-DD69-1944-B297-C94D2F89C39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 bwMode="gray">
          <a:xfrm>
            <a:off x="6259264" y="4398842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2B3F99B9-79CE-7449-8A1E-63A020015C6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 bwMode="gray">
          <a:xfrm>
            <a:off x="6259264" y="3966842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83991D-55C4-4BED-9F82-348B975F9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CF31112E-2650-45AD-ACA7-905C62C485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1813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</p:spTree>
    <p:extLst>
      <p:ext uri="{BB962C8B-B14F-4D97-AF65-F5344CB8AC3E}">
        <p14:creationId xmlns:p14="http://schemas.microsoft.com/office/powerpoint/2010/main" val="1448490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orient="horz" pos="1001" userDrawn="1">
          <p15:clr>
            <a:srgbClr val="FBAE40"/>
          </p15:clr>
        </p15:guide>
        <p15:guide id="4" pos="3938" userDrawn="1">
          <p15:clr>
            <a:srgbClr val="FBAE40"/>
          </p15:clr>
        </p15:guide>
        <p15:guide id="5" pos="371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7CBCA-E042-48C1-A54B-E15665ED3329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6258999" y="1591992"/>
            <a:ext cx="5364000" cy="4248274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11" name="Bildplatzhalter 17">
            <a:extLst>
              <a:ext uri="{FF2B5EF4-FFF2-40B4-BE49-F238E27FC236}">
                <a16:creationId xmlns:a16="http://schemas.microsoft.com/office/drawing/2014/main" id="{DD44F5B9-9BA4-3A44-99F9-BCF8F52EB4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2818" y="1591991"/>
            <a:ext cx="5364000" cy="4249493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57F4C4AA-18AA-443B-8087-444778FEB7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1813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</p:spTree>
    <p:extLst>
      <p:ext uri="{BB962C8B-B14F-4D97-AF65-F5344CB8AC3E}">
        <p14:creationId xmlns:p14="http://schemas.microsoft.com/office/powerpoint/2010/main" val="1846201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942" userDrawn="1">
          <p15:clr>
            <a:srgbClr val="FBAE40"/>
          </p15:clr>
        </p15:guide>
        <p15:guide id="3" pos="3716" userDrawn="1">
          <p15:clr>
            <a:srgbClr val="FBAE40"/>
          </p15:clr>
        </p15:guide>
        <p15:guide id="4" orient="horz" pos="100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FF24-5F70-4CC2-AFB8-F4A97678D73D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534051" y="1591993"/>
            <a:ext cx="5364000" cy="4249980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11" name="Bildplatzhalter 17">
            <a:extLst>
              <a:ext uri="{FF2B5EF4-FFF2-40B4-BE49-F238E27FC236}">
                <a16:creationId xmlns:a16="http://schemas.microsoft.com/office/drawing/2014/main" id="{DD44F5B9-9BA4-3A44-99F9-BCF8F52EB4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58035" y="1591992"/>
            <a:ext cx="5364000" cy="4252425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522352E3-06B9-403B-925D-E1D010A37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0850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</p:spTree>
    <p:extLst>
      <p:ext uri="{BB962C8B-B14F-4D97-AF65-F5344CB8AC3E}">
        <p14:creationId xmlns:p14="http://schemas.microsoft.com/office/powerpoint/2010/main" val="169372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orient="horz" pos="1000" userDrawn="1">
          <p15:clr>
            <a:srgbClr val="FBAE40"/>
          </p15:clr>
        </p15:guide>
        <p15:guide id="3" pos="3942" userDrawn="1">
          <p15:clr>
            <a:srgbClr val="FBAE40"/>
          </p15:clr>
        </p15:guide>
        <p15:guide id="4" pos="3716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7D24-C99A-4D5A-BB6C-12C1ECDD49C6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70E1B53-3F2D-452D-9A86-A1F79C07559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534133" y="1592664"/>
            <a:ext cx="5364000" cy="4246160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58076" y="1592664"/>
            <a:ext cx="5364000" cy="4246160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1CDAAB89-0FC7-4F31-A472-4F6605D12F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0850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</p:spTree>
    <p:extLst>
      <p:ext uri="{BB962C8B-B14F-4D97-AF65-F5344CB8AC3E}">
        <p14:creationId xmlns:p14="http://schemas.microsoft.com/office/powerpoint/2010/main" val="1508709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0" userDrawn="1">
          <p15:clr>
            <a:srgbClr val="FBAE40"/>
          </p15:clr>
        </p15:guide>
        <p15:guide id="2" pos="3941" userDrawn="1">
          <p15:clr>
            <a:srgbClr val="FBAE40"/>
          </p15:clr>
        </p15:guide>
        <p15:guide id="3" pos="3716" userDrawn="1">
          <p15:clr>
            <a:srgbClr val="FBAE40"/>
          </p15:clr>
        </p15:guide>
        <p15:guide id="4" orient="horz" pos="4089" userDrawn="1">
          <p15:clr>
            <a:srgbClr val="FBAE40"/>
          </p15:clr>
        </p15:guide>
        <p15:guide id="5" orient="horz" pos="77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DE711A-E492-44A3-B876-C5D79CE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A848B-09B2-420E-B361-C1107BC37C17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EFBB51-6294-4969-863C-CCC72A72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9DB5D9-E6AA-4167-B0BB-01756BBD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A935A2A9-CF1D-4FAD-8AE9-B477204726A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534193" y="1587558"/>
            <a:ext cx="3456000" cy="4252908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5" name="Inhaltsplatzhalter 13">
            <a:extLst>
              <a:ext uri="{FF2B5EF4-FFF2-40B4-BE49-F238E27FC236}">
                <a16:creationId xmlns:a16="http://schemas.microsoft.com/office/drawing/2014/main" id="{82D6E46D-AF11-4261-B8B5-3CFAB01684A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gray">
          <a:xfrm>
            <a:off x="4349975" y="1587558"/>
            <a:ext cx="3456000" cy="4251712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6" name="Inhaltsplatzhalter 13">
            <a:extLst>
              <a:ext uri="{FF2B5EF4-FFF2-40B4-BE49-F238E27FC236}">
                <a16:creationId xmlns:a16="http://schemas.microsoft.com/office/drawing/2014/main" id="{FB6C8960-A71A-4DEE-B920-42BBAE59C2F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 bwMode="gray">
          <a:xfrm>
            <a:off x="8165758" y="1587558"/>
            <a:ext cx="3456000" cy="4248124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86FD8C-D98F-44E7-B78B-E7BBE5787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A62346D0-67A4-42CA-B1E2-AE2B8DBD53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0850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</p:spTree>
    <p:extLst>
      <p:ext uri="{BB962C8B-B14F-4D97-AF65-F5344CB8AC3E}">
        <p14:creationId xmlns:p14="http://schemas.microsoft.com/office/powerpoint/2010/main" val="22202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8" userDrawn="1">
          <p15:clr>
            <a:srgbClr val="FBAE40"/>
          </p15:clr>
        </p15:guide>
        <p15:guide id="2" orient="horz" pos="998" userDrawn="1">
          <p15:clr>
            <a:srgbClr val="FBAE40"/>
          </p15:clr>
        </p15:guide>
        <p15:guide id="3" pos="5142" userDrawn="1">
          <p15:clr>
            <a:srgbClr val="FBAE40"/>
          </p15:clr>
        </p15:guide>
        <p15:guide id="4" pos="4919" userDrawn="1">
          <p15:clr>
            <a:srgbClr val="FBAE40"/>
          </p15:clr>
        </p15:guide>
        <p15:guide id="5" pos="2739" userDrawn="1">
          <p15:clr>
            <a:srgbClr val="FBAE40"/>
          </p15:clr>
        </p15:guide>
        <p15:guide id="6" pos="2512" userDrawn="1">
          <p15:clr>
            <a:srgbClr val="FBAE40"/>
          </p15:clr>
        </p15:guide>
        <p15:guide id="7" orient="horz" pos="408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groß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CA447AF3-9112-4E80-95D6-DA3EF951DC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569026"/>
            <a:ext cx="12192000" cy="5292000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C4C318-DD28-4C87-957E-AE95BAF6A445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9A97AC9-26DD-47DE-BB95-9A808E912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4F1B95C0-28E3-442A-A580-8AD2F32418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10592346" y="6218514"/>
            <a:ext cx="103425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2573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orient="horz" pos="984" userDrawn="1">
          <p15:clr>
            <a:srgbClr val="FBAE40"/>
          </p15:clr>
        </p15:guide>
        <p15:guide id="3" orient="horz" pos="408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ollflächig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3A53BF-3872-4CB9-A3C4-529D763542B7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B1B83-4769-4864-A5B4-AC0BECC9F87B}" type="datetime1">
              <a:rPr lang="de-DE" smtClean="0"/>
              <a:t>21.01.2026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EDF33C-AD69-4F63-80C6-29038ACF9FB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EF126A4-070B-48AA-980B-329F721F879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88144840-0471-4334-98C1-5B0CF93C04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0586391" y="6218517"/>
            <a:ext cx="103425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78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4000" y="0"/>
            <a:ext cx="5058000" cy="6858000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DB306D6-6C8C-46C6-ADFA-B6135A3744E5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/>
          <a:p>
            <a:fld id="{F500E362-E401-4793-80B6-AC81D0BBF9AC}" type="datetime1">
              <a:rPr lang="de-DE" smtClean="0"/>
              <a:t>21.01.2026</a:t>
            </a:fld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16989BC-3B1F-4E4B-82D3-8DA7D78223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2599892-D0A5-4D8F-92D6-5A86DA10324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5C0F6BCA-78EF-4C33-AD3D-7CA36F6D8D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31813" y="5358041"/>
            <a:ext cx="2917825" cy="221343"/>
          </a:xfrm>
        </p:spPr>
        <p:txBody>
          <a:bodyPr>
            <a:spAutoFit/>
          </a:bodyPr>
          <a:lstStyle>
            <a:lvl1pPr>
              <a:defRPr sz="1400"/>
            </a:lvl1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6DB239-7D96-4A88-AF48-1CB6FF0AF5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531813" y="1765300"/>
            <a:ext cx="6045175" cy="3326245"/>
          </a:xfrm>
        </p:spPr>
        <p:txBody>
          <a:bodyPr/>
          <a:lstStyle>
            <a:lvl1pPr>
              <a:defRPr sz="3600" i="1">
                <a:solidFill>
                  <a:schemeClr val="bg2"/>
                </a:solidFill>
              </a:defRPr>
            </a:lvl1pPr>
            <a:lvl2pPr>
              <a:defRPr sz="3600" i="1">
                <a:solidFill>
                  <a:schemeClr val="bg2"/>
                </a:solidFill>
              </a:defRPr>
            </a:lvl2pPr>
            <a:lvl3pPr>
              <a:defRPr sz="3600" i="1">
                <a:solidFill>
                  <a:schemeClr val="bg2"/>
                </a:solidFill>
              </a:defRPr>
            </a:lvl3pPr>
            <a:lvl4pPr>
              <a:defRPr sz="3600" i="1">
                <a:solidFill>
                  <a:schemeClr val="bg2"/>
                </a:solidFill>
              </a:defRPr>
            </a:lvl4pPr>
            <a:lvl5pPr>
              <a:defRPr sz="3600" i="1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Zitat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0AFD0CA2-68E9-47D8-BE1D-437138B09F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0586391" y="6218517"/>
            <a:ext cx="103425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09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93" userDrawn="1">
          <p15:clr>
            <a:srgbClr val="FBAE40"/>
          </p15:clr>
        </p15:guide>
        <p15:guide id="2" pos="4143" userDrawn="1">
          <p15:clr>
            <a:srgbClr val="FBAE40"/>
          </p15:clr>
        </p15:guide>
        <p15:guide id="3" orient="horz" pos="408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,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2526" y="0"/>
            <a:ext cx="5058000" cy="6857999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193AF1-E1A9-4B23-B710-4813C3270B71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15BD8298-60AC-4090-BB3E-F0693CA358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586663" y="5316477"/>
            <a:ext cx="2917825" cy="221343"/>
          </a:xfrm>
        </p:spPr>
        <p:txBody>
          <a:bodyPr>
            <a:spAutoFit/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CB9ADD9-051C-48A7-AA71-F3AEEB100E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586663" y="1765300"/>
            <a:ext cx="6037463" cy="3326400"/>
          </a:xfrm>
        </p:spPr>
        <p:txBody>
          <a:bodyPr/>
          <a:lstStyle>
            <a:lvl1pPr>
              <a:defRPr sz="3600" i="1">
                <a:solidFill>
                  <a:schemeClr val="bg2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de-DE"/>
              <a:t>Zitat</a:t>
            </a:r>
          </a:p>
        </p:txBody>
      </p:sp>
    </p:spTree>
    <p:extLst>
      <p:ext uri="{BB962C8B-B14F-4D97-AF65-F5344CB8AC3E}">
        <p14:creationId xmlns:p14="http://schemas.microsoft.com/office/powerpoint/2010/main" val="3948642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9" userDrawn="1">
          <p15:clr>
            <a:srgbClr val="FBAE40"/>
          </p15:clr>
        </p15:guide>
        <p15:guide id="2" pos="3518" userDrawn="1">
          <p15:clr>
            <a:srgbClr val="FBAE40"/>
          </p15:clr>
        </p15:guide>
        <p15:guide id="3" orient="horz" pos="408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DB306D6-6C8C-46C6-ADFA-B6135A3744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2A14F5-6A55-4473-8661-BEB5A0140A64}" type="datetime1">
              <a:rPr lang="de-DE" smtClean="0"/>
              <a:t>21.01.2026</a:t>
            </a:fld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16989BC-3B1F-4E4B-82D3-8DA7D78223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2599892-D0A5-4D8F-92D6-5A86DA10324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5C0F6BCA-78EF-4C33-AD3D-7CA36F6D8D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279604" y="5134754"/>
            <a:ext cx="2917825" cy="221343"/>
          </a:xfrm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6DB239-7D96-4A88-AF48-1CB6FF0AF5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1279604" y="1765300"/>
            <a:ext cx="8280000" cy="3276000"/>
          </a:xfrm>
        </p:spPr>
        <p:txBody>
          <a:bodyPr/>
          <a:lstStyle>
            <a:lvl1pPr>
              <a:defRPr sz="4800" i="1">
                <a:solidFill>
                  <a:schemeClr val="bg2"/>
                </a:solidFill>
              </a:defRPr>
            </a:lvl1pPr>
            <a:lvl2pPr>
              <a:defRPr sz="3600" i="1">
                <a:solidFill>
                  <a:schemeClr val="bg2"/>
                </a:solidFill>
              </a:defRPr>
            </a:lvl2pPr>
            <a:lvl3pPr>
              <a:defRPr sz="3600" i="1">
                <a:solidFill>
                  <a:schemeClr val="bg2"/>
                </a:solidFill>
              </a:defRPr>
            </a:lvl3pPr>
            <a:lvl4pPr>
              <a:defRPr sz="3600" i="1">
                <a:solidFill>
                  <a:schemeClr val="bg2"/>
                </a:solidFill>
              </a:defRPr>
            </a:lvl4pPr>
            <a:lvl5pPr>
              <a:defRPr sz="3600" i="1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Zitat</a:t>
            </a:r>
          </a:p>
        </p:txBody>
      </p:sp>
    </p:spTree>
    <p:extLst>
      <p:ext uri="{BB962C8B-B14F-4D97-AF65-F5344CB8AC3E}">
        <p14:creationId xmlns:p14="http://schemas.microsoft.com/office/powerpoint/2010/main" val="2329062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28" userDrawn="1">
          <p15:clr>
            <a:srgbClr val="FBAE40"/>
          </p15:clr>
        </p15:guide>
        <p15:guide id="2" pos="801" userDrawn="1">
          <p15:clr>
            <a:srgbClr val="FBAE40"/>
          </p15:clr>
        </p15:guide>
        <p15:guide id="3" orient="horz" pos="408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auf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C47367D-283C-4D87-B95C-FC69E28A2A3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6858000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DB306D6-6C8C-46C6-ADFA-B6135A3744E5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70B6F-EB51-4447-8EAA-A23EC06F421E}" type="datetime1">
              <a:rPr lang="de-DE" smtClean="0"/>
              <a:t>21.01.2026</a:t>
            </a:fld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16989BC-3B1F-4E4B-82D3-8DA7D78223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2599892-D0A5-4D8F-92D6-5A86DA10324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5C0F6BCA-78EF-4C33-AD3D-7CA36F6D8D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31813" y="5166653"/>
            <a:ext cx="2917825" cy="221343"/>
          </a:xfr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6DB239-7D96-4A88-AF48-1CB6FF0AF5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531813" y="1765300"/>
            <a:ext cx="5473798" cy="3276000"/>
          </a:xfrm>
        </p:spPr>
        <p:txBody>
          <a:bodyPr/>
          <a:lstStyle>
            <a:lvl1pPr>
              <a:defRPr sz="2800" i="1">
                <a:solidFill>
                  <a:schemeClr val="bg1"/>
                </a:solidFill>
              </a:defRPr>
            </a:lvl1pPr>
            <a:lvl2pPr>
              <a:defRPr sz="3600" i="1">
                <a:solidFill>
                  <a:schemeClr val="bg2"/>
                </a:solidFill>
              </a:defRPr>
            </a:lvl2pPr>
            <a:lvl3pPr>
              <a:defRPr sz="3600" i="1">
                <a:solidFill>
                  <a:schemeClr val="bg2"/>
                </a:solidFill>
              </a:defRPr>
            </a:lvl3pPr>
            <a:lvl4pPr>
              <a:defRPr sz="3600" i="1">
                <a:solidFill>
                  <a:schemeClr val="bg2"/>
                </a:solidFill>
              </a:defRPr>
            </a:lvl4pPr>
            <a:lvl5pPr>
              <a:defRPr sz="3600" i="1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Zitat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0B489DDB-5786-469D-8643-50E7BC7A2D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86391" y="6218517"/>
            <a:ext cx="103425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9466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088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AB97F-D06A-48A3-A64E-E5AEB8F2909E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839CC71-5A66-4024-AF53-356CCFD1E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7EA96A82-5240-4C17-9C81-578A89E25C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0850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</p:spTree>
    <p:extLst>
      <p:ext uri="{BB962C8B-B14F-4D97-AF65-F5344CB8AC3E}">
        <p14:creationId xmlns:p14="http://schemas.microsoft.com/office/powerpoint/2010/main" val="4233856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orient="horz" pos="1002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drei Inhalte +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770FE-DF98-4121-AF3E-53C54675F6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AF40B6-2AA0-417C-BE3A-982F879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B011-833F-4600-85A0-C5EEAEFDA00F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AA9C6-39E3-425E-A4CB-9451D6E1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3DBF1A-3A75-4EDE-BD7E-552C5DA0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2FE610F-9097-4239-8F6D-4E1D6613A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32845" y="3821707"/>
            <a:ext cx="3451599" cy="2021609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1988443F-2C70-431D-95AE-B5C6B856BA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4352777" y="3821707"/>
            <a:ext cx="3451599" cy="2021609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3E6FE9ED-9A0D-45D7-A662-8C4EC1E578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172286" y="3821707"/>
            <a:ext cx="3451387" cy="2021609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ABE610A8-10D9-4147-A6E5-BABA0B95A58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32845" y="1590405"/>
            <a:ext cx="3451387" cy="1800225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8" name="Bildplatzhalter 16">
            <a:extLst>
              <a:ext uri="{FF2B5EF4-FFF2-40B4-BE49-F238E27FC236}">
                <a16:creationId xmlns:a16="http://schemas.microsoft.com/office/drawing/2014/main" id="{4A4C875C-48EA-418B-BF7D-8DE3AB59F4F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72286" y="1590405"/>
            <a:ext cx="3451387" cy="1800225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9" name="Bildplatzhalter 16">
            <a:extLst>
              <a:ext uri="{FF2B5EF4-FFF2-40B4-BE49-F238E27FC236}">
                <a16:creationId xmlns:a16="http://schemas.microsoft.com/office/drawing/2014/main" id="{1143D483-3782-4F2D-8C24-3B38911302F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352565" y="1590405"/>
            <a:ext cx="3451387" cy="1800225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AA3A109C-7CCC-4973-A60E-1BE4C514A7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0850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</p:spTree>
    <p:extLst>
      <p:ext uri="{BB962C8B-B14F-4D97-AF65-F5344CB8AC3E}">
        <p14:creationId xmlns:p14="http://schemas.microsoft.com/office/powerpoint/2010/main" val="297690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9" userDrawn="1">
          <p15:clr>
            <a:srgbClr val="FBAE40"/>
          </p15:clr>
        </p15:guide>
        <p15:guide id="2" orient="horz" pos="1000" userDrawn="1">
          <p15:clr>
            <a:srgbClr val="FBAE40"/>
          </p15:clr>
        </p15:guide>
        <p15:guide id="3" orient="horz" pos="2138" userDrawn="1">
          <p15:clr>
            <a:srgbClr val="FBAE40"/>
          </p15:clr>
        </p15:guide>
        <p15:guide id="4" orient="horz" pos="2405" userDrawn="1">
          <p15:clr>
            <a:srgbClr val="FBAE40"/>
          </p15:clr>
        </p15:guide>
        <p15:guide id="5" pos="5145" userDrawn="1">
          <p15:clr>
            <a:srgbClr val="FBAE40"/>
          </p15:clr>
        </p15:guide>
        <p15:guide id="6" pos="4917" userDrawn="1">
          <p15:clr>
            <a:srgbClr val="FBAE40"/>
          </p15:clr>
        </p15:guide>
        <p15:guide id="7" pos="2741" userDrawn="1">
          <p15:clr>
            <a:srgbClr val="FBAE40"/>
          </p15:clr>
        </p15:guide>
        <p15:guide id="8" pos="2511" userDrawn="1">
          <p15:clr>
            <a:srgbClr val="FBAE40"/>
          </p15:clr>
        </p15:guide>
        <p15:guide id="9" orient="horz" pos="4088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zwei Inhalt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6">
            <a:extLst>
              <a:ext uri="{FF2B5EF4-FFF2-40B4-BE49-F238E27FC236}">
                <a16:creationId xmlns:a16="http://schemas.microsoft.com/office/drawing/2014/main" id="{4A4C875C-48EA-418B-BF7D-8DE3AB59F4F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9439" y="1588817"/>
            <a:ext cx="3450374" cy="4252120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2FE610F-9097-4239-8F6D-4E1D6613A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32913" y="1588817"/>
            <a:ext cx="3456000" cy="4252120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1988443F-2C70-431D-95AE-B5C6B856BA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4352924" y="1588817"/>
            <a:ext cx="3454251" cy="4252120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F770FE-DF98-4121-AF3E-53C54675F6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AF40B6-2AA0-417C-BE3A-982F879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4637-CB84-498E-8BD5-BF747539B91A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AA9C6-39E3-425E-A4CB-9451D6E1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3DBF1A-3A75-4EDE-BD7E-552C5DA0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ADA6973B-DBE2-49D9-A320-22E36E2FBD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0850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</p:spTree>
    <p:extLst>
      <p:ext uri="{BB962C8B-B14F-4D97-AF65-F5344CB8AC3E}">
        <p14:creationId xmlns:p14="http://schemas.microsoft.com/office/powerpoint/2010/main" val="191366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8" userDrawn="1">
          <p15:clr>
            <a:srgbClr val="FBAE40"/>
          </p15:clr>
        </p15:guide>
        <p15:guide id="2" orient="horz" pos="1001" userDrawn="1">
          <p15:clr>
            <a:srgbClr val="FBAE40"/>
          </p15:clr>
        </p15:guide>
        <p15:guide id="3" pos="5143" userDrawn="1">
          <p15:clr>
            <a:srgbClr val="FBAE40"/>
          </p15:clr>
        </p15:guide>
        <p15:guide id="4" pos="4920" userDrawn="1">
          <p15:clr>
            <a:srgbClr val="FBAE40"/>
          </p15:clr>
        </p15:guide>
        <p15:guide id="5" pos="2514" userDrawn="1">
          <p15:clr>
            <a:srgbClr val="FBAE40"/>
          </p15:clr>
        </p15:guide>
        <p15:guide id="6" pos="2742" userDrawn="1">
          <p15:clr>
            <a:srgbClr val="FBAE40"/>
          </p15:clr>
        </p15:guide>
        <p15:guide id="7" orient="horz" pos="4088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Inhalt links,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7B13E-4F07-4D60-8719-9F254FE49060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047A0B5-1D36-4CA6-A388-794661BAE1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79587" y="1591194"/>
            <a:ext cx="3744000" cy="1889125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ECB22D53-C6FB-4838-8BFC-4CA32EF2DB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7969" y="3725846"/>
            <a:ext cx="3744000" cy="1874883"/>
          </a:xfr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50F3FE6-CA1A-430E-BAC8-DE134F31D3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3565" y="1591194"/>
            <a:ext cx="6696000" cy="4249737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94E790-BDC5-48E5-942E-7B9F27EB0B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41CC2152-A88F-4578-839A-6742D5091C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30850" y="263759"/>
            <a:ext cx="10080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</p:spTree>
    <p:extLst>
      <p:ext uri="{BB962C8B-B14F-4D97-AF65-F5344CB8AC3E}">
        <p14:creationId xmlns:p14="http://schemas.microsoft.com/office/powerpoint/2010/main" val="2200611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9" userDrawn="1">
          <p15:clr>
            <a:srgbClr val="FBAE40"/>
          </p15:clr>
        </p15:guide>
        <p15:guide id="2" pos="4556" userDrawn="1">
          <p15:clr>
            <a:srgbClr val="FBAE40"/>
          </p15:clr>
        </p15:guide>
        <p15:guide id="3" orient="horz" pos="1001" userDrawn="1">
          <p15:clr>
            <a:srgbClr val="FBAE40"/>
          </p15:clr>
        </p15:guide>
        <p15:guide id="4" pos="4963" userDrawn="1">
          <p15:clr>
            <a:srgbClr val="FBAE40"/>
          </p15:clr>
        </p15:guide>
        <p15:guide id="5" orient="horz" pos="2194" userDrawn="1">
          <p15:clr>
            <a:srgbClr val="FBAE40"/>
          </p15:clr>
        </p15:guide>
        <p15:guide id="6" orient="horz" pos="2347" userDrawn="1">
          <p15:clr>
            <a:srgbClr val="FBAE40"/>
          </p15:clr>
        </p15:guide>
        <p15:guide id="7" orient="horz" pos="3529" userDrawn="1">
          <p15:clr>
            <a:srgbClr val="FBAE40"/>
          </p15:clr>
        </p15:guide>
        <p15:guide id="8" orient="horz" pos="408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Inhalt, pastellgrüne Fläche mit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FFA6248-288A-4285-8856-317301A04B8D}"/>
              </a:ext>
            </a:extLst>
          </p:cNvPr>
          <p:cNvSpPr/>
          <p:nvPr/>
        </p:nvSpPr>
        <p:spPr>
          <a:xfrm>
            <a:off x="7886700" y="0"/>
            <a:ext cx="4305300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109F-3AD2-4905-B728-F98B1FAF2C7F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21C7B6C-9388-4B13-B252-B91C088700C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531813" y="1591988"/>
            <a:ext cx="6696000" cy="4246565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CBABA49A-74C9-42AB-BEFB-8AC49258D3B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593931" y="1591989"/>
            <a:ext cx="3026713" cy="42513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Inhalt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B26D1AD2-8756-4964-9373-2B17EA5F8E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0850" y="263759"/>
            <a:ext cx="6696000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50A5D420-DF0E-4E44-84B5-D041CE6CC0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92346" y="6218514"/>
            <a:ext cx="103425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9620C6F-91CC-49B2-AD1A-87A0DEC74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1813" y="549274"/>
            <a:ext cx="6696000" cy="68421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</p:spTree>
    <p:extLst>
      <p:ext uri="{BB962C8B-B14F-4D97-AF65-F5344CB8AC3E}">
        <p14:creationId xmlns:p14="http://schemas.microsoft.com/office/powerpoint/2010/main" val="1158694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5412" userDrawn="1">
          <p15:clr>
            <a:srgbClr val="FBAE40"/>
          </p15:clr>
        </p15:guide>
        <p15:guide id="3" pos="4554" userDrawn="1">
          <p15:clr>
            <a:srgbClr val="FBAE40"/>
          </p15:clr>
        </p15:guide>
        <p15:guide id="4" orient="horz" pos="4088" userDrawn="1">
          <p15:clr>
            <a:srgbClr val="FBAE40"/>
          </p15:clr>
        </p15:guide>
        <p15:guide id="5" orient="horz" pos="1001" userDrawn="1">
          <p15:clr>
            <a:srgbClr val="FBAE40"/>
          </p15:clr>
        </p15:guide>
        <p15:guide id="6" pos="4963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Inhalt, pastellgrüne Fläch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E4BAAC3F-189E-4FFC-82C1-CD8630009E8F}"/>
              </a:ext>
            </a:extLst>
          </p:cNvPr>
          <p:cNvSpPr/>
          <p:nvPr/>
        </p:nvSpPr>
        <p:spPr>
          <a:xfrm>
            <a:off x="-1" y="0"/>
            <a:ext cx="6104709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err="1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264B35-2A3C-41F1-A8BD-B33C3A5A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CD13-614F-4412-86BD-53301E49389A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38BC5A-30AE-4B13-9081-43F961AA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7493E4-C91E-477E-B287-E468A9DD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2B39DEC-136C-4218-B442-3360DBA85F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4195" y="1590402"/>
            <a:ext cx="5112000" cy="4252912"/>
          </a:xfrm>
        </p:spPr>
        <p:txBody>
          <a:bodyPr/>
          <a:lstStyle/>
          <a:p>
            <a:pPr lvl="0"/>
            <a:r>
              <a:rPr lang="de-DE"/>
              <a:t>Inhalt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9282FCB3-1DEA-43AC-AE75-51A18A91BA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0851" y="263759"/>
            <a:ext cx="5115887" cy="22142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Folientitel (optional) - einzeilig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2E19B878-0637-4969-8E92-0C08F92A0F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92346" y="6218514"/>
            <a:ext cx="103425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F3BAFAA-5D7F-419C-AEAD-DE55388A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1814" y="549274"/>
            <a:ext cx="5115887" cy="68421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Sprechende Überschrift - zweizeilig</a:t>
            </a:r>
          </a:p>
        </p:txBody>
      </p:sp>
    </p:spTree>
    <p:extLst>
      <p:ext uri="{BB962C8B-B14F-4D97-AF65-F5344CB8AC3E}">
        <p14:creationId xmlns:p14="http://schemas.microsoft.com/office/powerpoint/2010/main" val="2608593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99" userDrawn="1">
          <p15:clr>
            <a:srgbClr val="FBAE40"/>
          </p15:clr>
        </p15:guide>
        <p15:guide id="2" pos="3557" userDrawn="1">
          <p15:clr>
            <a:srgbClr val="FBAE40"/>
          </p15:clr>
        </p15:guide>
        <p15:guide id="3" orient="horz" pos="4088" userDrawn="1">
          <p15:clr>
            <a:srgbClr val="FBAE40"/>
          </p15:clr>
        </p15:guide>
        <p15:guide id="4" orient="horz" pos="77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, weiß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083CFB7-931B-4839-8D10-C8E469EC79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31743" y="4954093"/>
            <a:ext cx="3371850" cy="1077218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e-DE"/>
              <a:t>Funktion</a:t>
            </a:r>
          </a:p>
          <a:p>
            <a:pPr lvl="0"/>
            <a:r>
              <a:rPr lang="de-DE"/>
              <a:t>AOK Länderkennzeichnung</a:t>
            </a:r>
          </a:p>
          <a:p>
            <a:pPr lvl="0"/>
            <a:r>
              <a:rPr lang="de-DE"/>
              <a:t>Musterstraße 123</a:t>
            </a:r>
          </a:p>
          <a:p>
            <a:pPr lvl="0"/>
            <a:r>
              <a:rPr lang="de-DE"/>
              <a:t>12345 Musterstadt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F55EBCCF-2FEB-4910-90A0-FD8B5D5111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348163" y="4954624"/>
            <a:ext cx="5492157" cy="1077218"/>
          </a:xfrm>
        </p:spPr>
        <p:txBody>
          <a:bodyPr anchor="t" anchorCtr="0"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e-DE"/>
              <a:t>P +49 (123) 45 67 89</a:t>
            </a:r>
          </a:p>
          <a:p>
            <a:pPr lvl="0"/>
            <a:r>
              <a:rPr lang="de-DE"/>
              <a:t>F +49 (123) 45 67 89</a:t>
            </a:r>
          </a:p>
          <a:p>
            <a:pPr lvl="0"/>
            <a:r>
              <a:rPr lang="de-DE"/>
              <a:t>M +49 (123) 45 67 89 0</a:t>
            </a:r>
          </a:p>
          <a:p>
            <a:pPr lvl="0"/>
            <a:r>
              <a:rPr lang="de-DE"/>
              <a:t>E vorname.nachname@aok.de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AFC9B68D-65AD-47A3-AEAC-D1ED4EE7D9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1742" y="4333009"/>
            <a:ext cx="9284768" cy="276999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401A1E-2335-487D-A1D1-174AEEEDA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1743" y="1661390"/>
            <a:ext cx="9294291" cy="1185718"/>
          </a:xfrm>
        </p:spPr>
        <p:txBody>
          <a:bodyPr/>
          <a:lstStyle>
            <a:lvl1pPr>
              <a:lnSpc>
                <a:spcPct val="110000"/>
              </a:lnSpc>
              <a:defRPr sz="6400">
                <a:solidFill>
                  <a:schemeClr val="bg2"/>
                </a:solidFill>
              </a:defRPr>
            </a:lvl1pPr>
          </a:lstStyle>
          <a:p>
            <a:r>
              <a:rPr lang="de-DE"/>
              <a:t>Vielen Dank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A8E08A-CA05-46A8-9D7A-182ACFA0C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8646" y="372807"/>
            <a:ext cx="1779113" cy="5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17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739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, grü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0D30B1A-B0F5-4932-84ED-2876E8B039E5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 err="1">
              <a:solidFill>
                <a:schemeClr val="bg1"/>
              </a:solidFill>
            </a:endParaRP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083CFB7-931B-4839-8D10-C8E469EC79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31743" y="4954093"/>
            <a:ext cx="3371850" cy="1077218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Funktion</a:t>
            </a:r>
          </a:p>
          <a:p>
            <a:pPr lvl="0"/>
            <a:r>
              <a:rPr lang="de-DE"/>
              <a:t>AOK Länderkennzeichnung</a:t>
            </a:r>
          </a:p>
          <a:p>
            <a:pPr lvl="0"/>
            <a:r>
              <a:rPr lang="de-DE"/>
              <a:t>Musterstraße 123</a:t>
            </a:r>
          </a:p>
          <a:p>
            <a:pPr lvl="0"/>
            <a:r>
              <a:rPr lang="de-DE"/>
              <a:t>12345 Musterstadt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F55EBCCF-2FEB-4910-90A0-FD8B5D5111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348163" y="4954624"/>
            <a:ext cx="5492157" cy="1077218"/>
          </a:xfrm>
        </p:spPr>
        <p:txBody>
          <a:bodyPr anchor="t" anchorCtr="0"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 +49 (123) 45 67 89</a:t>
            </a:r>
          </a:p>
          <a:p>
            <a:pPr lvl="0"/>
            <a:r>
              <a:rPr lang="de-DE"/>
              <a:t>F +49 (123) 45 67 89</a:t>
            </a:r>
          </a:p>
          <a:p>
            <a:pPr lvl="0"/>
            <a:r>
              <a:rPr lang="de-DE"/>
              <a:t>M +49 (123) 45 67 89 0</a:t>
            </a:r>
          </a:p>
          <a:p>
            <a:pPr lvl="0"/>
            <a:r>
              <a:rPr lang="de-DE"/>
              <a:t>E vorname.nachname@aok.de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AFC9B68D-65AD-47A3-AEAC-D1ED4EE7D9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1742" y="4333009"/>
            <a:ext cx="9284768" cy="276999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DB8B34A-FB14-4B2D-9B3B-8BF44AAC1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9841257" y="372717"/>
            <a:ext cx="1782421" cy="5511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B401A1E-2335-487D-A1D1-174AEEEDA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1743" y="1661390"/>
            <a:ext cx="9294291" cy="1185718"/>
          </a:xfrm>
        </p:spPr>
        <p:txBody>
          <a:bodyPr/>
          <a:lstStyle>
            <a:lvl1pPr>
              <a:lnSpc>
                <a:spcPct val="110000"/>
              </a:lnSpc>
              <a:defRPr sz="6400">
                <a:solidFill>
                  <a:schemeClr val="bg1"/>
                </a:solidFill>
              </a:defRPr>
            </a:lvl1pPr>
          </a:lstStyle>
          <a:p>
            <a:r>
              <a:rPr lang="de-DE"/>
              <a:t>Vielen Dank</a:t>
            </a:r>
          </a:p>
        </p:txBody>
      </p:sp>
    </p:spTree>
    <p:extLst>
      <p:ext uri="{BB962C8B-B14F-4D97-AF65-F5344CB8AC3E}">
        <p14:creationId xmlns:p14="http://schemas.microsoft.com/office/powerpoint/2010/main" val="3291900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739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B67008-ACB6-488C-80EF-57C55636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AC76-E020-4717-9941-A6E2441BE0F8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1AFD9B-93CA-4DAE-9953-B8EB0F3D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9F0869-8A12-47AA-8F9B-8ADF38B7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3598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6682-DA8C-4A78-8027-2B3345C6644A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1914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D656E-8701-45C6-904B-E221F77A6545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95854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412D2-C47C-401D-9DBF-67AAF75ED606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23315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1A8B-851C-43FF-B383-3E86A1972F6E}" type="datetime1">
              <a:rPr lang="de-DE" smtClean="0"/>
              <a:t>21.01.2026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9495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4965-8215-4150-8786-EC6B6BB60115}" type="datetime1">
              <a:rPr lang="de-DE" smtClean="0"/>
              <a:t>21.01.2026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38724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1070-732B-4193-ABEB-BCC169EC6428}" type="datetime1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90753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4E7C0-4DC8-4A37-9AB4-8548C3A935A3}" type="datetime1">
              <a:rPr lang="de-DE" smtClean="0"/>
              <a:t>21.01.2026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14841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87EC-1582-472A-9257-EE59C0F6AA6A}" type="datetime1">
              <a:rPr lang="de-DE" smtClean="0"/>
              <a:t>21.01.2026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52067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623A-3FBD-4064-BB08-802D6DCCB9F6}" type="datetime1">
              <a:rPr lang="de-DE" smtClean="0"/>
              <a:t>21.01.2026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09983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3C698-7A32-4A78-A8F1-75D0BA63733B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86088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638B-C395-4809-8FBC-3C59D7C52886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0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34FD6D-48F3-4A5C-8E77-DBCE4EB4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3" y="549274"/>
            <a:ext cx="10080000" cy="6842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Sprechende Überschrift - zweizeilig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CC67E9-5BDD-4FB7-AEA4-0A3D41EE9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813" y="1591200"/>
            <a:ext cx="11088000" cy="424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423CBB-470C-4515-AF28-06E6352AA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9943" y="6361717"/>
            <a:ext cx="680398" cy="153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D961F4C8-BE95-4CF9-8E94-6C1FEBD61D93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9DC61F-9E66-4252-86CA-8F6B63796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7802" y="6361717"/>
            <a:ext cx="8253632" cy="153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6264B0-1D56-4DD2-90C5-927294522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1814" y="6361717"/>
            <a:ext cx="270668" cy="153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19E8F2C-CA07-4209-B2D2-B05CC99ECA0C}"/>
              </a:ext>
            </a:extLst>
          </p:cNvPr>
          <p:cNvPicPr>
            <a:picLocks noChangeAspect="1"/>
          </p:cNvPicPr>
          <p:nvPr/>
        </p:nvPicPr>
        <p:blipFill>
          <a:blip r:embed="rId3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592346" y="6218517"/>
            <a:ext cx="1034250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2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4" r:id="rId2"/>
    <p:sldLayoutId id="2147483715" r:id="rId3"/>
    <p:sldLayoutId id="2147483716" r:id="rId4"/>
    <p:sldLayoutId id="2147483663" r:id="rId5"/>
    <p:sldLayoutId id="2147483664" r:id="rId6"/>
    <p:sldLayoutId id="2147483701" r:id="rId7"/>
    <p:sldLayoutId id="2147483665" r:id="rId8"/>
    <p:sldLayoutId id="2147483666" r:id="rId9"/>
    <p:sldLayoutId id="2147483668" r:id="rId10"/>
    <p:sldLayoutId id="2147483669" r:id="rId11"/>
    <p:sldLayoutId id="2147483702" r:id="rId12"/>
    <p:sldLayoutId id="2147483726" r:id="rId13"/>
    <p:sldLayoutId id="2147483727" r:id="rId14"/>
    <p:sldLayoutId id="2147483703" r:id="rId15"/>
    <p:sldLayoutId id="2147483704" r:id="rId16"/>
    <p:sldLayoutId id="2147483705" r:id="rId17"/>
    <p:sldLayoutId id="2147483688" r:id="rId18"/>
    <p:sldLayoutId id="2147483691" r:id="rId19"/>
    <p:sldLayoutId id="2147483682" r:id="rId20"/>
    <p:sldLayoutId id="2147483674" r:id="rId21"/>
    <p:sldLayoutId id="2147483675" r:id="rId22"/>
    <p:sldLayoutId id="2147483719" r:id="rId23"/>
    <p:sldLayoutId id="2147483723" r:id="rId24"/>
    <p:sldLayoutId id="2147483724" r:id="rId25"/>
    <p:sldLayoutId id="2147483680" r:id="rId26"/>
    <p:sldLayoutId id="2147483698" r:id="rId27"/>
    <p:sldLayoutId id="2147483709" r:id="rId28"/>
    <p:sldLayoutId id="2147483686" r:id="rId29"/>
    <p:sldLayoutId id="2147483687" r:id="rId30"/>
    <p:sldLayoutId id="2147483696" r:id="rId31"/>
    <p:sldLayoutId id="2147483725" r:id="rId32"/>
    <p:sldLayoutId id="2147483728" r:id="rId33"/>
    <p:sldLayoutId id="2147483699" r:id="rId3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2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ClrTx/>
        <a:buFont typeface="AOK Buenos Aires" pitchFamily="50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ClrTx/>
        <a:buFont typeface="AOK Buenos Aires" pitchFamily="50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50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50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21" userDrawn="1">
          <p15:clr>
            <a:srgbClr val="F26B43"/>
          </p15:clr>
        </p15:guide>
        <p15:guide id="2" pos="335" userDrawn="1">
          <p15:clr>
            <a:srgbClr val="F26B43"/>
          </p15:clr>
        </p15:guide>
        <p15:guide id="3" orient="horz" pos="36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A242C-26FD-4AD4-82E6-C6AA372B9B85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AOK Bremen/Bremerhaven, AG Collaboration Tools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BA4EE-EB2C-4591-826E-CC051854EA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3726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Citrix Exit?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Design </a:t>
            </a:r>
            <a:r>
              <a:rPr lang="de-DE" err="1"/>
              <a:t>Thinking</a:t>
            </a:r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v0.1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/>
              <a:t>IT-Infrastruktur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AOK Bremen/Bremerhaven</a:t>
            </a:r>
          </a:p>
        </p:txBody>
      </p:sp>
    </p:spTree>
    <p:extLst>
      <p:ext uri="{BB962C8B-B14F-4D97-AF65-F5344CB8AC3E}">
        <p14:creationId xmlns:p14="http://schemas.microsoft.com/office/powerpoint/2010/main" val="2309066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11086951" cy="4546674"/>
          </a:xfrm>
        </p:spPr>
        <p:txBody>
          <a:bodyPr/>
          <a:lstStyle/>
          <a:p>
            <a:r>
              <a:rPr lang="de-DE" sz="1600" dirty="0"/>
              <a:t>Erwartungen, Ambitionen und Ziele</a:t>
            </a:r>
          </a:p>
          <a:p>
            <a:r>
              <a:rPr lang="de-DE" sz="1600" dirty="0"/>
              <a:t>Lokale Softwareverteilung (Quellen, Anbieter, Support)</a:t>
            </a:r>
          </a:p>
          <a:p>
            <a:r>
              <a:rPr lang="de-DE" sz="1600" dirty="0"/>
              <a:t>Status Sonder- und Eigenanwendungen</a:t>
            </a:r>
          </a:p>
          <a:p>
            <a:r>
              <a:rPr lang="de-DE" sz="1600" dirty="0">
                <a:solidFill>
                  <a:srgbClr val="FF0000"/>
                </a:solidFill>
              </a:rPr>
              <a:t>Vor- und Nachteile VDI</a:t>
            </a:r>
          </a:p>
          <a:p>
            <a:r>
              <a:rPr lang="de-DE" sz="1600" dirty="0"/>
              <a:t>Use-Cases für VDI</a:t>
            </a:r>
          </a:p>
          <a:p>
            <a:r>
              <a:rPr lang="de-DE" sz="1600" dirty="0">
                <a:solidFill>
                  <a:srgbClr val="FF0000"/>
                </a:solidFill>
              </a:rPr>
              <a:t>Skalierung VDI /ggf. Integration Cloud</a:t>
            </a:r>
          </a:p>
          <a:p>
            <a:r>
              <a:rPr lang="de-DE" sz="1600" dirty="0">
                <a:solidFill>
                  <a:srgbClr val="FF0000"/>
                </a:solidFill>
              </a:rPr>
              <a:t>Ausgestaltung VDI (Persistent und/oder Pool)</a:t>
            </a:r>
          </a:p>
          <a:p>
            <a:r>
              <a:rPr lang="de-DE" sz="1600" dirty="0">
                <a:solidFill>
                  <a:srgbClr val="FF0000"/>
                </a:solidFill>
              </a:rPr>
              <a:t>Exit Strategie MS 365 (heute Citrix)</a:t>
            </a:r>
          </a:p>
          <a:p>
            <a:endParaRPr lang="de-DE" sz="1600" dirty="0"/>
          </a:p>
          <a:p>
            <a:endParaRPr lang="de-DE" sz="1600" dirty="0"/>
          </a:p>
          <a:p>
            <a:endParaRPr lang="de-DE" sz="16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74E79FE-B128-025E-318F-2FEBE7EE482A}"/>
              </a:ext>
            </a:extLst>
          </p:cNvPr>
          <p:cNvSpPr txBox="1"/>
          <p:nvPr/>
        </p:nvSpPr>
        <p:spPr>
          <a:xfrm>
            <a:off x="8183880" y="2642616"/>
            <a:ext cx="3136392" cy="7863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rgbClr val="FF0000"/>
                </a:solidFill>
              </a:rPr>
              <a:t>rot=</a:t>
            </a:r>
            <a:br>
              <a:rPr lang="de-DE" dirty="0">
                <a:solidFill>
                  <a:srgbClr val="FF0000"/>
                </a:solidFill>
              </a:rPr>
            </a:br>
            <a:r>
              <a:rPr lang="de-DE" dirty="0">
                <a:solidFill>
                  <a:srgbClr val="FF0000"/>
                </a:solidFill>
              </a:rPr>
              <a:t>Noch nicht thematisiert</a:t>
            </a:r>
          </a:p>
        </p:txBody>
      </p:sp>
    </p:spTree>
    <p:extLst>
      <p:ext uri="{BB962C8B-B14F-4D97-AF65-F5344CB8AC3E}">
        <p14:creationId xmlns:p14="http://schemas.microsoft.com/office/powerpoint/2010/main" val="591191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11086951" cy="4546674"/>
          </a:xfrm>
        </p:spPr>
        <p:txBody>
          <a:bodyPr/>
          <a:lstStyle/>
          <a:p>
            <a:pPr>
              <a:buFont typeface="+mj-lt"/>
              <a:buAutoNum type="arabicPeriod" startAt="7"/>
            </a:pPr>
            <a:r>
              <a:rPr lang="de-DE" dirty="0"/>
              <a:t>Alternativen VDI – Anbieter</a:t>
            </a:r>
          </a:p>
          <a:p>
            <a:pPr>
              <a:buAutoNum type="arabicPeriod" startAt="7"/>
            </a:pPr>
            <a:r>
              <a:rPr lang="de-DE" dirty="0">
                <a:solidFill>
                  <a:srgbClr val="FF0000"/>
                </a:solidFill>
              </a:rPr>
              <a:t>Supportprozesse, Verteilungsprozesse – und Zeiten</a:t>
            </a:r>
          </a:p>
          <a:p>
            <a:pPr>
              <a:buAutoNum type="arabicPeriod" startAt="7"/>
            </a:pPr>
            <a:r>
              <a:rPr lang="de-DE" dirty="0">
                <a:solidFill>
                  <a:srgbClr val="FF0000"/>
                </a:solidFill>
              </a:rPr>
              <a:t>Personalbedarf</a:t>
            </a:r>
          </a:p>
          <a:p>
            <a:pPr>
              <a:buAutoNum type="arabicPeriod" startAt="7"/>
            </a:pPr>
            <a:r>
              <a:rPr lang="de-DE" dirty="0"/>
              <a:t>Lifecycle - Serverhardware und </a:t>
            </a:r>
            <a:r>
              <a:rPr lang="de-DE" dirty="0" err="1"/>
              <a:t>Citrixsoftware</a:t>
            </a:r>
            <a:endParaRPr lang="de-DE" dirty="0"/>
          </a:p>
          <a:p>
            <a:pPr>
              <a:buAutoNum type="arabicPeriod" startAt="7"/>
            </a:pPr>
            <a:r>
              <a:rPr lang="de-DE" dirty="0"/>
              <a:t>Terminstrecke</a:t>
            </a:r>
          </a:p>
          <a:p>
            <a:pPr>
              <a:buAutoNum type="arabicPeriod" startAt="7"/>
            </a:pPr>
            <a:r>
              <a:rPr lang="de-DE" dirty="0"/>
              <a:t>Struktur – Arbeitsgruppe, Change oder Projekt?</a:t>
            </a:r>
          </a:p>
          <a:p>
            <a:pPr marL="0" indent="0">
              <a:buNone/>
            </a:pPr>
            <a:endParaRPr lang="de-DE" dirty="0"/>
          </a:p>
          <a:p>
            <a:pPr>
              <a:buAutoNum type="arabicPeriod" startAt="7"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508566" y="6361717"/>
            <a:ext cx="8253632" cy="153888"/>
          </a:xfrm>
        </p:spPr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7A6D740-84CE-D2A9-8CED-48EC09F4F44D}"/>
              </a:ext>
            </a:extLst>
          </p:cNvPr>
          <p:cNvSpPr txBox="1"/>
          <p:nvPr/>
        </p:nvSpPr>
        <p:spPr>
          <a:xfrm>
            <a:off x="8183880" y="2642616"/>
            <a:ext cx="3136392" cy="7863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rgbClr val="FF0000"/>
                </a:solidFill>
              </a:rPr>
              <a:t>rot=</a:t>
            </a:r>
            <a:br>
              <a:rPr lang="de-DE" dirty="0">
                <a:solidFill>
                  <a:srgbClr val="FF0000"/>
                </a:solidFill>
              </a:rPr>
            </a:br>
            <a:r>
              <a:rPr lang="de-DE" dirty="0">
                <a:solidFill>
                  <a:srgbClr val="FF0000"/>
                </a:solidFill>
              </a:rPr>
              <a:t>Noch nicht thematisiert</a:t>
            </a:r>
          </a:p>
        </p:txBody>
      </p:sp>
    </p:spTree>
    <p:extLst>
      <p:ext uri="{BB962C8B-B14F-4D97-AF65-F5344CB8AC3E}">
        <p14:creationId xmlns:p14="http://schemas.microsoft.com/office/powerpoint/2010/main" val="397471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11086951" cy="4546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Kostenreduktion! (insbesondere HB)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Usability – Ein Desktop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„Vendor Lock-in“ Citrix (Verträge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100% Notebooks im Einsatz (in NDS Ablösung </a:t>
            </a:r>
            <a:r>
              <a:rPr lang="de-DE" dirty="0" err="1"/>
              <a:t>Elux</a:t>
            </a:r>
            <a:r>
              <a:rPr lang="de-DE" dirty="0"/>
              <a:t> in 2026)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Bedarf für 200% Citrix fraglich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Redundante Betriebsstrukturen ( z. B. OS + Softwareverteilung)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Betriebsprobleme im Kontext MS 365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Reduktion Komplexität</a:t>
            </a:r>
          </a:p>
          <a:p>
            <a:pPr marL="0" indent="0">
              <a:buNone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 Zielbild: zweckmäßiger, effizienter und kostengünstiger IT-Betrieb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/>
              <a:t>Erwartungen, Ambitionen und Ziele AOKs</a:t>
            </a:r>
            <a:br>
              <a:rPr lang="de-DE" sz="2800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9627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11086951" cy="4546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„Arbeitsplatz ARGE“ erforderlich: Workbench, Zugriff,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Klare Verantwortlichkeiten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Möglichst keine geteilten Verantwortlichkeiten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Eindeutige Leistungs-/Servicebeschreibung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TCO „Total-</a:t>
            </a:r>
            <a:r>
              <a:rPr lang="de-DE" dirty="0" err="1"/>
              <a:t>Cost</a:t>
            </a:r>
            <a:r>
              <a:rPr lang="de-DE" dirty="0"/>
              <a:t>-</a:t>
            </a:r>
            <a:r>
              <a:rPr lang="de-DE" dirty="0" err="1"/>
              <a:t>of</a:t>
            </a:r>
            <a:r>
              <a:rPr lang="de-DE" dirty="0"/>
              <a:t>-Ownership“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Testmanagement/</a:t>
            </a:r>
            <a:r>
              <a:rPr lang="de-DE" dirty="0" err="1"/>
              <a:t>Testerpool</a:t>
            </a:r>
            <a:r>
              <a:rPr lang="de-DE" dirty="0"/>
              <a:t> der AOKs verbessern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/>
              <a:t>Erwartungen, Ambitionen und Ziele </a:t>
            </a:r>
            <a:r>
              <a:rPr lang="de-DE"/>
              <a:t>ARGE</a:t>
            </a:r>
            <a:br>
              <a:rPr lang="de-DE" sz="2800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340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2" y="1592869"/>
            <a:ext cx="3759994" cy="3445856"/>
          </a:xfrm>
        </p:spPr>
        <p:txBody>
          <a:bodyPr/>
          <a:lstStyle/>
          <a:p>
            <a:pPr marL="0" indent="0">
              <a:buNone/>
            </a:pPr>
            <a:r>
              <a:rPr lang="de-DE" b="1">
                <a:latin typeface="+mn-lt"/>
              </a:rPr>
              <a:t>Lokale Clients: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MCM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Patch </a:t>
            </a:r>
            <a:r>
              <a:rPr lang="de-DE" err="1">
                <a:latin typeface="+mn-lt"/>
              </a:rPr>
              <a:t>my</a:t>
            </a:r>
            <a:r>
              <a:rPr lang="de-DE">
                <a:latin typeface="+mn-lt"/>
              </a:rPr>
              <a:t> PC (für Patch)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/>
              <a:t>Softwareverteilung Status Quo</a:t>
            </a:r>
            <a:br>
              <a:rPr lang="de-DE" sz="2800"/>
            </a:br>
            <a:br>
              <a:rPr lang="de-DE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B80B1AA7-3E89-D581-1795-FC92AEEEDFE8}"/>
              </a:ext>
            </a:extLst>
          </p:cNvPr>
          <p:cNvSpPr txBox="1">
            <a:spLocks/>
          </p:cNvSpPr>
          <p:nvPr/>
        </p:nvSpPr>
        <p:spPr bwMode="gray">
          <a:xfrm>
            <a:off x="4278793" y="1585538"/>
            <a:ext cx="3759994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de-DE" b="1"/>
              <a:t>Zentrale Server: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de-DE" err="1">
                <a:latin typeface="+mn-lt"/>
              </a:rPr>
              <a:t>Citrix+RPA</a:t>
            </a:r>
            <a:r>
              <a:rPr lang="de-DE">
                <a:latin typeface="+mn-lt"/>
              </a:rPr>
              <a:t>: </a:t>
            </a:r>
            <a:r>
              <a:rPr lang="de-DE" err="1">
                <a:latin typeface="+mn-lt"/>
              </a:rPr>
              <a:t>Ivanti</a:t>
            </a:r>
            <a:r>
              <a:rPr lang="de-DE">
                <a:latin typeface="+mn-lt"/>
              </a:rPr>
              <a:t> 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Windows Server: keine Software – durch Anwendungsverantwortliche mit zentralen Images, 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WSUS für Patchmanagement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Linux: Suse Manager</a:t>
            </a: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C150C082-93A0-6D3D-2E34-65C6CD8D2987}"/>
              </a:ext>
            </a:extLst>
          </p:cNvPr>
          <p:cNvSpPr txBox="1">
            <a:spLocks/>
          </p:cNvSpPr>
          <p:nvPr/>
        </p:nvSpPr>
        <p:spPr bwMode="gray">
          <a:xfrm>
            <a:off x="8134038" y="1524265"/>
            <a:ext cx="3759994" cy="3142985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de-DE" b="1">
                <a:latin typeface="+mn-lt"/>
              </a:rPr>
              <a:t>MDM: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BlackBerry UEM</a:t>
            </a:r>
          </a:p>
          <a:p>
            <a:pPr marL="0" indent="0">
              <a:buFont typeface="+mj-lt"/>
              <a:buNone/>
            </a:pPr>
            <a:endParaRPr lang="de-DE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0D2B6BF-CD05-8FC7-32EE-CC92AC2CB63C}"/>
              </a:ext>
            </a:extLst>
          </p:cNvPr>
          <p:cNvSpPr txBox="1"/>
          <p:nvPr/>
        </p:nvSpPr>
        <p:spPr>
          <a:xfrm>
            <a:off x="647700" y="5400675"/>
            <a:ext cx="3552825" cy="7410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/>
              <a:t>Ablösung MCM durch Intune geplant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3DF0091-2CFF-2404-81E3-0A288539C6B6}"/>
              </a:ext>
            </a:extLst>
          </p:cNvPr>
          <p:cNvSpPr txBox="1"/>
          <p:nvPr/>
        </p:nvSpPr>
        <p:spPr>
          <a:xfrm>
            <a:off x="4390711" y="5410199"/>
            <a:ext cx="3552825" cy="11054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dirty="0"/>
              <a:t>Ablösung </a:t>
            </a:r>
            <a:r>
              <a:rPr lang="de-DE" dirty="0" err="1"/>
              <a:t>Ivanti</a:t>
            </a:r>
            <a:r>
              <a:rPr lang="de-DE" dirty="0"/>
              <a:t> erforderlich</a:t>
            </a:r>
            <a:br>
              <a:rPr lang="de-DE" dirty="0"/>
            </a:br>
            <a:r>
              <a:rPr lang="de-DE" dirty="0">
                <a:solidFill>
                  <a:srgbClr val="FF0000"/>
                </a:solidFill>
              </a:rPr>
              <a:t>SCCM/MCM zur </a:t>
            </a:r>
            <a:r>
              <a:rPr lang="de-DE" dirty="0" err="1">
                <a:solidFill>
                  <a:srgbClr val="FF0000"/>
                </a:solidFill>
              </a:rPr>
              <a:t>vereinheit-lichung</a:t>
            </a:r>
            <a:r>
              <a:rPr lang="de-DE" dirty="0">
                <a:solidFill>
                  <a:srgbClr val="FF0000"/>
                </a:solidFill>
              </a:rPr>
              <a:t> eine Option?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E72FD4B-4D0A-518B-241A-EB5FA8433C7F}"/>
              </a:ext>
            </a:extLst>
          </p:cNvPr>
          <p:cNvSpPr txBox="1"/>
          <p:nvPr/>
        </p:nvSpPr>
        <p:spPr>
          <a:xfrm>
            <a:off x="8191188" y="5410200"/>
            <a:ext cx="3552825" cy="7410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/>
              <a:t>Ablösung UEM durch Intune geplant</a:t>
            </a:r>
          </a:p>
        </p:txBody>
      </p:sp>
    </p:spTree>
    <p:extLst>
      <p:ext uri="{BB962C8B-B14F-4D97-AF65-F5344CB8AC3E}">
        <p14:creationId xmlns:p14="http://schemas.microsoft.com/office/powerpoint/2010/main" val="102327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4245769" cy="4546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/>
              <a:t>POC Ausbau Lokale Softwareverteilung</a:t>
            </a:r>
            <a:br>
              <a:rPr lang="de-DE" sz="2800"/>
            </a:br>
            <a:br>
              <a:rPr lang="de-DE" sz="2800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DBC1D5B-5634-B79F-5936-554972FE6CC4}"/>
              </a:ext>
            </a:extLst>
          </p:cNvPr>
          <p:cNvSpPr txBox="1">
            <a:spLocks/>
          </p:cNvSpPr>
          <p:nvPr/>
        </p:nvSpPr>
        <p:spPr bwMode="gray">
          <a:xfrm>
            <a:off x="688181" y="1745269"/>
            <a:ext cx="42457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97A77C6E-BBEE-88FB-3081-199D90BDD7D7}"/>
              </a:ext>
            </a:extLst>
          </p:cNvPr>
          <p:cNvSpPr txBox="1">
            <a:spLocks/>
          </p:cNvSpPr>
          <p:nvPr/>
        </p:nvSpPr>
        <p:spPr bwMode="gray">
          <a:xfrm>
            <a:off x="6896100" y="1614113"/>
            <a:ext cx="40933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de-DE"/>
            </a:br>
            <a:br>
              <a:rPr lang="de-DE">
                <a:latin typeface="+mn-lt"/>
              </a:rPr>
            </a:br>
            <a:endParaRPr lang="de-DE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50EF6E8-04B2-FC74-2808-EC2AAE4182C5}"/>
              </a:ext>
            </a:extLst>
          </p:cNvPr>
          <p:cNvSpPr txBox="1"/>
          <p:nvPr/>
        </p:nvSpPr>
        <p:spPr>
          <a:xfrm>
            <a:off x="435769" y="1523095"/>
            <a:ext cx="5208849" cy="489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/>
              <a:t>Softwareverteilung Citrix auf lokale Ebene überführen:</a:t>
            </a:r>
            <a:br>
              <a:rPr lang="de-DE"/>
            </a:br>
            <a:br>
              <a:rPr lang="de-DE">
                <a:latin typeface="+mn-lt"/>
              </a:rPr>
            </a:br>
            <a:r>
              <a:rPr lang="de-DE">
                <a:latin typeface="+mn-lt"/>
              </a:rPr>
              <a:t>Liste Softwareverteilung vorhanden</a:t>
            </a:r>
          </a:p>
          <a:p>
            <a:endParaRPr lang="de-DE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Definition von Standard – und Sonderanwendungen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Installationsreihenfolge definieren </a:t>
            </a:r>
            <a:endParaRPr lang="de-DE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Image konfigurieren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Testsystem aufsetzen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Testbereich in den AOKs gewinnen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>
              <a:latin typeface="+mn-lt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A41D788-C811-04E4-C494-EADA3C279FFE}"/>
              </a:ext>
            </a:extLst>
          </p:cNvPr>
          <p:cNvSpPr txBox="1"/>
          <p:nvPr/>
        </p:nvSpPr>
        <p:spPr>
          <a:xfrm>
            <a:off x="6547384" y="1594158"/>
            <a:ext cx="4650581" cy="484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/>
              <a:t>Zugang und Update:</a:t>
            </a:r>
            <a:br>
              <a:rPr lang="de-DE"/>
            </a:br>
            <a:br>
              <a:rPr lang="de-DE">
                <a:latin typeface="+mn-lt"/>
              </a:rPr>
            </a:br>
            <a:endParaRPr lang="de-DE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Do</a:t>
            </a:r>
            <a:r>
              <a:rPr lang="de-DE"/>
              <a:t>wnloadportale für Clientsoftware definieren - Zugriffe einrichten.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err="1"/>
              <a:t>Patchprozesse</a:t>
            </a:r>
            <a:r>
              <a:rPr lang="de-DE"/>
              <a:t> + </a:t>
            </a:r>
            <a:r>
              <a:rPr lang="de-DE" err="1"/>
              <a:t>Releaszyklen</a:t>
            </a:r>
            <a:r>
              <a:rPr lang="de-DE"/>
              <a:t> für Clientsoftware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Patch- und Testprozess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Hinweis: SAP GUI zum Teil nicht updatefähig – Installation neue Appversion erforderlich</a:t>
            </a:r>
          </a:p>
          <a:p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900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4245769" cy="4546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/>
              <a:t>POC Ausbau Lokale Softwareverteilung</a:t>
            </a:r>
            <a:br>
              <a:rPr lang="de-DE" sz="2800"/>
            </a:br>
            <a:br>
              <a:rPr lang="de-DE" sz="2800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0A600437-5768-521F-AD5C-8C40C63EBCDC}"/>
              </a:ext>
            </a:extLst>
          </p:cNvPr>
          <p:cNvSpPr txBox="1">
            <a:spLocks/>
          </p:cNvSpPr>
          <p:nvPr/>
        </p:nvSpPr>
        <p:spPr bwMode="gray">
          <a:xfrm>
            <a:off x="688181" y="1745269"/>
            <a:ext cx="40933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>
                <a:latin typeface="+mn-lt"/>
              </a:rPr>
              <a:t>Ergebnisse quantifizierbar machen</a:t>
            </a:r>
          </a:p>
          <a:p>
            <a:pPr marL="0" indent="0">
              <a:buNone/>
            </a:pPr>
            <a:endParaRPr lang="de-DE" b="1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+mn-lt"/>
              </a:rPr>
              <a:t>Dynatrace</a:t>
            </a:r>
            <a:r>
              <a:rPr lang="de-DE" dirty="0">
                <a:latin typeface="+mn-lt"/>
              </a:rPr>
              <a:t> Messung für Standardprozesse (z. B. SAP+X-OUT) Prozesse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Messung Citrix und lokal im parallel Betrieb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Bandbreitenbedarf identifizierbar? </a:t>
            </a:r>
          </a:p>
          <a:p>
            <a:pPr marL="717761" lvl="1" indent="-285750"/>
            <a:r>
              <a:rPr lang="de-DE" dirty="0"/>
              <a:t>Standort </a:t>
            </a:r>
          </a:p>
          <a:p>
            <a:pPr marL="717761" lvl="1" indent="-285750"/>
            <a:r>
              <a:rPr lang="de-DE" dirty="0">
                <a:latin typeface="+mn-lt"/>
              </a:rPr>
              <a:t>VPN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>
              <a:buFont typeface="+mj-lt"/>
              <a:buNone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DBC1D5B-5634-B79F-5936-554972FE6CC4}"/>
              </a:ext>
            </a:extLst>
          </p:cNvPr>
          <p:cNvSpPr txBox="1">
            <a:spLocks/>
          </p:cNvSpPr>
          <p:nvPr/>
        </p:nvSpPr>
        <p:spPr bwMode="gray">
          <a:xfrm>
            <a:off x="688181" y="1745269"/>
            <a:ext cx="42457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97A77C6E-BBEE-88FB-3081-199D90BDD7D7}"/>
              </a:ext>
            </a:extLst>
          </p:cNvPr>
          <p:cNvSpPr txBox="1">
            <a:spLocks/>
          </p:cNvSpPr>
          <p:nvPr/>
        </p:nvSpPr>
        <p:spPr bwMode="gray">
          <a:xfrm>
            <a:off x="6896100" y="1614113"/>
            <a:ext cx="40933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986BC752-C559-56C4-E6C0-22FD77AACA8F}"/>
              </a:ext>
            </a:extLst>
          </p:cNvPr>
          <p:cNvSpPr txBox="1">
            <a:spLocks/>
          </p:cNvSpPr>
          <p:nvPr/>
        </p:nvSpPr>
        <p:spPr bwMode="gray">
          <a:xfrm>
            <a:off x="6403181" y="1714578"/>
            <a:ext cx="40933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>
                <a:latin typeface="+mn-lt"/>
              </a:rPr>
              <a:t>Welche Dienste müssen in VDI laufen?</a:t>
            </a:r>
          </a:p>
          <a:p>
            <a:pPr marL="0" indent="0">
              <a:buNone/>
            </a:pPr>
            <a:endParaRPr lang="de-DE" b="1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Software mit ODBC-Verbindung?</a:t>
            </a:r>
          </a:p>
          <a:p>
            <a:pPr marL="717761" lvl="1" indent="-285750"/>
            <a:r>
              <a:rPr lang="de-DE"/>
              <a:t>Ausprobieren!</a:t>
            </a:r>
            <a:endParaRPr lang="de-DE">
              <a:latin typeface="+mn-lt"/>
            </a:endParaRPr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3821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4245769" cy="4546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/>
              <a:t>POC Ausbau Lokale Softwareverteilung</a:t>
            </a:r>
            <a:br>
              <a:rPr lang="de-DE" sz="2800"/>
            </a:br>
            <a:br>
              <a:rPr lang="de-DE" sz="2800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0A600437-5768-521F-AD5C-8C40C63EBCDC}"/>
              </a:ext>
            </a:extLst>
          </p:cNvPr>
          <p:cNvSpPr txBox="1">
            <a:spLocks/>
          </p:cNvSpPr>
          <p:nvPr/>
        </p:nvSpPr>
        <p:spPr bwMode="gray">
          <a:xfrm>
            <a:off x="688181" y="1745269"/>
            <a:ext cx="23026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>
                <a:latin typeface="+mn-lt"/>
              </a:rPr>
              <a:t>Wer mit wem?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Projektleiter?</a:t>
            </a:r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DBC1D5B-5634-B79F-5936-554972FE6CC4}"/>
              </a:ext>
            </a:extLst>
          </p:cNvPr>
          <p:cNvSpPr txBox="1">
            <a:spLocks/>
          </p:cNvSpPr>
          <p:nvPr/>
        </p:nvSpPr>
        <p:spPr bwMode="gray">
          <a:xfrm>
            <a:off x="688181" y="1745269"/>
            <a:ext cx="42457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97A77C6E-BBEE-88FB-3081-199D90BDD7D7}"/>
              </a:ext>
            </a:extLst>
          </p:cNvPr>
          <p:cNvSpPr txBox="1">
            <a:spLocks/>
          </p:cNvSpPr>
          <p:nvPr/>
        </p:nvSpPr>
        <p:spPr bwMode="gray">
          <a:xfrm>
            <a:off x="6896100" y="1614113"/>
            <a:ext cx="40933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10" name="Inhaltsplatzhalter 1">
            <a:extLst>
              <a:ext uri="{FF2B5EF4-FFF2-40B4-BE49-F238E27FC236}">
                <a16:creationId xmlns:a16="http://schemas.microsoft.com/office/drawing/2014/main" id="{B1CCCA25-287C-EEBA-C77A-C4C92EB8A44B}"/>
              </a:ext>
            </a:extLst>
          </p:cNvPr>
          <p:cNvSpPr txBox="1">
            <a:spLocks/>
          </p:cNvSpPr>
          <p:nvPr/>
        </p:nvSpPr>
        <p:spPr bwMode="gray">
          <a:xfrm>
            <a:off x="688181" y="3112850"/>
            <a:ext cx="2660959" cy="1811511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>
                <a:latin typeface="+mn-lt"/>
              </a:rPr>
              <a:t>HB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Mario Börner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Sven Andreessen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Holger Bredemeier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6B01E9AE-B6C0-29CC-AF77-67342B83B238}"/>
              </a:ext>
            </a:extLst>
          </p:cNvPr>
          <p:cNvSpPr txBox="1">
            <a:spLocks/>
          </p:cNvSpPr>
          <p:nvPr/>
        </p:nvSpPr>
        <p:spPr bwMode="gray">
          <a:xfrm>
            <a:off x="4617156" y="3112850"/>
            <a:ext cx="2302669" cy="1811511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>
                <a:latin typeface="+mn-lt"/>
              </a:rPr>
              <a:t>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Fabian Heise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Stefan </a:t>
            </a:r>
            <a:r>
              <a:rPr lang="de-DE" err="1">
                <a:latin typeface="+mn-lt"/>
              </a:rPr>
              <a:t>Nanninga</a:t>
            </a:r>
            <a:endParaRPr lang="de-DE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>
              <a:latin typeface="+mn-lt"/>
            </a:endParaRPr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FBED80A1-2104-FCDE-A7C2-E541DBEFFDD8}"/>
              </a:ext>
            </a:extLst>
          </p:cNvPr>
          <p:cNvSpPr txBox="1">
            <a:spLocks/>
          </p:cNvSpPr>
          <p:nvPr/>
        </p:nvSpPr>
        <p:spPr bwMode="gray">
          <a:xfrm>
            <a:off x="8309144" y="3112850"/>
            <a:ext cx="2302669" cy="1811511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>
                <a:latin typeface="+mn-lt"/>
              </a:rPr>
              <a:t>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Alex Kroll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Frank Hormann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Mathias Walte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51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4245769" cy="4546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/>
              <a:t>POC Ausbau Lokale Softwareverteilung</a:t>
            </a:r>
            <a:br>
              <a:rPr lang="de-DE" sz="2800"/>
            </a:br>
            <a:br>
              <a:rPr lang="de-DE" sz="2800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0A600437-5768-521F-AD5C-8C40C63EBCDC}"/>
              </a:ext>
            </a:extLst>
          </p:cNvPr>
          <p:cNvSpPr txBox="1">
            <a:spLocks/>
          </p:cNvSpPr>
          <p:nvPr/>
        </p:nvSpPr>
        <p:spPr bwMode="gray">
          <a:xfrm>
            <a:off x="688181" y="1745269"/>
            <a:ext cx="10080000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>
                <a:latin typeface="+mn-lt"/>
              </a:rPr>
              <a:t>Zeitplan: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Umsetzung wohl erst ab Q2/Q3 realistisch.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Roadmap AOK NDS gerade noch in Planung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AOK HB im ersten Quartal bereits verplant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>
                <a:latin typeface="+mn-lt"/>
              </a:rPr>
              <a:t>Ziel ist Start in Q2 </a:t>
            </a:r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DBC1D5B-5634-B79F-5936-554972FE6CC4}"/>
              </a:ext>
            </a:extLst>
          </p:cNvPr>
          <p:cNvSpPr txBox="1">
            <a:spLocks/>
          </p:cNvSpPr>
          <p:nvPr/>
        </p:nvSpPr>
        <p:spPr bwMode="gray">
          <a:xfrm>
            <a:off x="688181" y="1745269"/>
            <a:ext cx="9665494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97A77C6E-BBEE-88FB-3081-199D90BDD7D7}"/>
              </a:ext>
            </a:extLst>
          </p:cNvPr>
          <p:cNvSpPr txBox="1">
            <a:spLocks/>
          </p:cNvSpPr>
          <p:nvPr/>
        </p:nvSpPr>
        <p:spPr bwMode="gray">
          <a:xfrm>
            <a:off x="6896100" y="1614113"/>
            <a:ext cx="40933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715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11086951" cy="4546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/>
              <a:t>Leistungsschnitt Softwareverteilung </a:t>
            </a:r>
            <a:r>
              <a:rPr lang="de-DE" sz="2800">
                <a:solidFill>
                  <a:srgbClr val="FF0000"/>
                </a:solidFill>
              </a:rPr>
              <a:t>Zukunft</a:t>
            </a:r>
            <a:br>
              <a:rPr lang="de-DE" sz="2800"/>
            </a:br>
            <a:br>
              <a:rPr lang="de-DE" sz="2800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0A600437-5768-521F-AD5C-8C40C63EBCDC}"/>
              </a:ext>
            </a:extLst>
          </p:cNvPr>
          <p:cNvSpPr txBox="1">
            <a:spLocks/>
          </p:cNvSpPr>
          <p:nvPr/>
        </p:nvSpPr>
        <p:spPr bwMode="gray">
          <a:xfrm>
            <a:off x="688181" y="1745269"/>
            <a:ext cx="11086951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/>
              <a:t>Zu definieren: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Zentralisierte Softwareverteilung + Patchmanagement?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Geteilte Verantwortlichkeiten? </a:t>
            </a:r>
          </a:p>
          <a:p>
            <a:pPr marL="717761" lvl="1" indent="-285750"/>
            <a:r>
              <a:rPr lang="de-DE"/>
              <a:t>„Tanzbereiche“?</a:t>
            </a:r>
          </a:p>
          <a:p>
            <a:pPr marL="717761" lvl="1" indent="-285750"/>
            <a:r>
              <a:rPr lang="de-DE"/>
              <a:t>Übergabepunkte?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Testverfahren?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Supportstrukturen?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Qualitätskriterien?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Fallbackszenarien?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Push- oder Pull-verfahren - Kombination?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940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11086951" cy="4546674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latin typeface="+mn-lt"/>
              </a:rPr>
              <a:t>Hypothese: 1/3 kann weg….</a:t>
            </a:r>
          </a:p>
          <a:p>
            <a:pPr marL="0" indent="0">
              <a:buNone/>
            </a:pPr>
            <a:endParaRPr lang="de-DE" dirty="0">
              <a:latin typeface="+mn-lt"/>
            </a:endParaRPr>
          </a:p>
          <a:p>
            <a:pPr marL="0" indent="0">
              <a:buNone/>
            </a:pPr>
            <a:r>
              <a:rPr lang="de-DE" dirty="0">
                <a:latin typeface="+mn-lt"/>
              </a:rPr>
              <a:t>AOK HB möchte aufräumen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Übersicht über alle Sonder- + Eigenanwendungen, die heute in Citrix bereitgestellt werden.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-&gt; Service Request: Auswertung der Anwendungen in Citrix + Startmenü (Datenbanken, Access, Sonderanwendungen) + AD-Gruppen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Sonder- und Eigenanwendungen</a:t>
            </a:r>
            <a:br>
              <a:rPr lang="de-DE" sz="2800" dirty="0"/>
            </a:br>
            <a:br>
              <a:rPr lang="de-DE" sz="2800" dirty="0"/>
            </a:br>
            <a:br>
              <a:rPr lang="de-DE" sz="2800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3022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11086951" cy="4546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Windows Terminal Server (RDS oder </a:t>
            </a:r>
            <a:r>
              <a:rPr lang="de-DE" err="1">
                <a:latin typeface="+mn-lt"/>
              </a:rPr>
              <a:t>RemoteApps</a:t>
            </a:r>
            <a:r>
              <a:rPr lang="de-DE">
                <a:latin typeface="+mn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Azure </a:t>
            </a:r>
            <a:r>
              <a:rPr lang="de-DE" err="1">
                <a:latin typeface="+mn-lt"/>
              </a:rPr>
              <a:t>Local</a:t>
            </a:r>
            <a:endParaRPr lang="de-DE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Azure Virtual Desktop (Cloud)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VMware Horizon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Open Source (</a:t>
            </a:r>
            <a:r>
              <a:rPr lang="de-DE" err="1">
                <a:latin typeface="+mn-lt"/>
              </a:rPr>
              <a:t>OpenDesktop</a:t>
            </a:r>
            <a:r>
              <a:rPr lang="de-DE">
                <a:latin typeface="+mn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err="1">
                <a:latin typeface="+mn-lt"/>
              </a:rPr>
              <a:t>Proxmox</a:t>
            </a:r>
            <a:r>
              <a:rPr lang="de-DE">
                <a:latin typeface="+mn-lt"/>
              </a:rPr>
              <a:t> (UDS-Enterprise)</a:t>
            </a: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/>
              <a:t>VDI Alternative Lösungen</a:t>
            </a:r>
            <a:br>
              <a:rPr lang="de-DE" sz="2800"/>
            </a:br>
            <a:br>
              <a:rPr lang="de-DE" sz="2800"/>
            </a:br>
            <a:br>
              <a:rPr lang="de-DE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238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4245769" cy="4546674"/>
          </a:xfrm>
        </p:spPr>
        <p:txBody>
          <a:bodyPr/>
          <a:lstStyle/>
          <a:p>
            <a:pPr marL="0" indent="0"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Marktanalyse</a:t>
            </a:r>
            <a:r>
              <a:rPr lang="de-DE" sz="2800"/>
              <a:t> </a:t>
            </a:r>
            <a:r>
              <a:rPr lang="de-DE"/>
              <a:t>VDI Anbieter</a:t>
            </a:r>
            <a:br>
              <a:rPr lang="de-DE" sz="2800"/>
            </a:br>
            <a:br>
              <a:rPr lang="de-DE" sz="2800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0A600437-5768-521F-AD5C-8C40C63EBCDC}"/>
              </a:ext>
            </a:extLst>
          </p:cNvPr>
          <p:cNvSpPr txBox="1">
            <a:spLocks/>
          </p:cNvSpPr>
          <p:nvPr/>
        </p:nvSpPr>
        <p:spPr bwMode="gray">
          <a:xfrm>
            <a:off x="688181" y="1745269"/>
            <a:ext cx="3928975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 err="1">
                <a:latin typeface="+mn-lt"/>
              </a:rPr>
              <a:t>Scope</a:t>
            </a:r>
            <a:r>
              <a:rPr lang="de-DE" b="1" dirty="0">
                <a:latin typeface="+mn-lt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+mn-lt"/>
              </a:rPr>
              <a:t>Erfüllt </a:t>
            </a:r>
            <a:r>
              <a:rPr lang="de-DE" dirty="0" err="1">
                <a:latin typeface="+mn-lt"/>
              </a:rPr>
              <a:t>Usecase</a:t>
            </a:r>
            <a:r>
              <a:rPr lang="de-DE" dirty="0">
                <a:latin typeface="+mn-lt"/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+mn-lt"/>
              </a:rPr>
              <a:t>Vor- und Nachteile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+mn-lt"/>
              </a:rPr>
              <a:t>Kostenüberblick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+mn-lt"/>
              </a:rPr>
              <a:t>Support?</a:t>
            </a:r>
          </a:p>
          <a:p>
            <a:pPr marL="285750" indent="-285750">
              <a:buFontTx/>
              <a:buChar char="-"/>
            </a:pPr>
            <a:r>
              <a:rPr lang="de-DE" dirty="0" err="1">
                <a:latin typeface="+mn-lt"/>
              </a:rPr>
              <a:t>Know-How</a:t>
            </a:r>
            <a:r>
              <a:rPr lang="de-DE" dirty="0">
                <a:latin typeface="+mn-lt"/>
              </a:rPr>
              <a:t> in der ARGE?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+mn-lt"/>
              </a:rPr>
              <a:t>Ausschreibung?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+mn-lt"/>
              </a:rPr>
              <a:t>Datenschutz/IT-Sicherheit?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DBC1D5B-5634-B79F-5936-554972FE6CC4}"/>
              </a:ext>
            </a:extLst>
          </p:cNvPr>
          <p:cNvSpPr txBox="1">
            <a:spLocks/>
          </p:cNvSpPr>
          <p:nvPr/>
        </p:nvSpPr>
        <p:spPr bwMode="gray">
          <a:xfrm>
            <a:off x="688181" y="1745269"/>
            <a:ext cx="42457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97A77C6E-BBEE-88FB-3081-199D90BDD7D7}"/>
              </a:ext>
            </a:extLst>
          </p:cNvPr>
          <p:cNvSpPr txBox="1">
            <a:spLocks/>
          </p:cNvSpPr>
          <p:nvPr/>
        </p:nvSpPr>
        <p:spPr bwMode="gray">
          <a:xfrm>
            <a:off x="6896100" y="1614113"/>
            <a:ext cx="4093369" cy="4546674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FBED80A1-2104-FCDE-A7C2-E541DBEFFDD8}"/>
              </a:ext>
            </a:extLst>
          </p:cNvPr>
          <p:cNvSpPr txBox="1">
            <a:spLocks/>
          </p:cNvSpPr>
          <p:nvPr/>
        </p:nvSpPr>
        <p:spPr bwMode="gray">
          <a:xfrm>
            <a:off x="8309144" y="1919440"/>
            <a:ext cx="2302669" cy="2634807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431989" indent="-431989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432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>
                <a:latin typeface="+mn-lt"/>
              </a:rPr>
              <a:t>Teilnehmer:</a:t>
            </a:r>
          </a:p>
          <a:p>
            <a:pPr marL="0" indent="0">
              <a:buNone/>
            </a:pPr>
            <a:r>
              <a:rPr lang="de-DE">
                <a:latin typeface="+mn-lt"/>
              </a:rPr>
              <a:t>AOKs + ARGE</a:t>
            </a:r>
          </a:p>
          <a:p>
            <a:pPr marL="0" indent="0">
              <a:buNone/>
            </a:pPr>
            <a:r>
              <a:rPr lang="de-DE">
                <a:latin typeface="+mn-lt"/>
              </a:rPr>
              <a:t>Stefan </a:t>
            </a:r>
            <a:r>
              <a:rPr lang="de-DE" err="1">
                <a:latin typeface="+mn-lt"/>
              </a:rPr>
              <a:t>Büll</a:t>
            </a:r>
            <a:endParaRPr lang="de-DE">
              <a:latin typeface="+mn-lt"/>
            </a:endParaRPr>
          </a:p>
          <a:p>
            <a:pPr marL="0" indent="0">
              <a:buNone/>
            </a:pPr>
            <a:r>
              <a:rPr lang="de-DE">
                <a:latin typeface="+mn-lt"/>
              </a:rPr>
              <a:t>Tobias Könemann</a:t>
            </a:r>
          </a:p>
          <a:p>
            <a:pPr marL="0" indent="0">
              <a:buNone/>
            </a:pPr>
            <a:r>
              <a:rPr lang="de-DE">
                <a:latin typeface="+mn-lt"/>
              </a:rPr>
              <a:t>Robin Timmler</a:t>
            </a:r>
          </a:p>
          <a:p>
            <a:pPr marL="0" indent="0">
              <a:buNone/>
            </a:pPr>
            <a:endParaRPr lang="de-DE">
              <a:latin typeface="+mn-lt"/>
            </a:endParaRPr>
          </a:p>
          <a:p>
            <a:pPr marL="0" indent="0">
              <a:buNone/>
            </a:pPr>
            <a:endParaRPr lang="de-DE"/>
          </a:p>
          <a:p>
            <a:pPr marL="0" indent="0">
              <a:buFont typeface="+mj-lt"/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532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11086951" cy="4546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VDI „Arbeitsplatz ARGE“ erforderlich: </a:t>
            </a:r>
            <a:r>
              <a:rPr lang="de-DE" err="1">
                <a:latin typeface="+mn-lt"/>
              </a:rPr>
              <a:t>Workbench</a:t>
            </a:r>
            <a:r>
              <a:rPr lang="de-DE">
                <a:latin typeface="+mn-lt"/>
              </a:rPr>
              <a:t>, Zugriff,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Supportzugriff durch Externe (</a:t>
            </a:r>
            <a:r>
              <a:rPr lang="de-DE" err="1">
                <a:latin typeface="+mn-lt"/>
              </a:rPr>
              <a:t>Jumphost</a:t>
            </a:r>
            <a:r>
              <a:rPr lang="de-DE">
                <a:latin typeface="+mn-lt"/>
              </a:rPr>
              <a:t> für AOK Systems, DEG, DRV(?)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K-Fall / Exit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Sonderanwendungen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+mn-lt"/>
              </a:rPr>
              <a:t>Entwicklungen / Softwaretestung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/>
              <a:t>Use-Cases für VDI</a:t>
            </a:r>
            <a:br>
              <a:rPr lang="de-DE" sz="2800"/>
            </a:br>
            <a:br>
              <a:rPr lang="de-DE" sz="2800"/>
            </a:b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6904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11086951" cy="4546674"/>
          </a:xfrm>
        </p:spPr>
        <p:txBody>
          <a:bodyPr/>
          <a:lstStyle/>
          <a:p>
            <a:pPr marL="0" indent="0">
              <a:buNone/>
            </a:pPr>
            <a:r>
              <a:rPr lang="de-DE" sz="2000" b="1" dirty="0"/>
              <a:t>EOL/EOS</a:t>
            </a: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Hardware (inklusive Wartung) </a:t>
            </a:r>
            <a:r>
              <a:rPr lang="de-DE" dirty="0">
                <a:solidFill>
                  <a:srgbClr val="FF0000"/>
                </a:solidFill>
                <a:latin typeface="+mn-lt"/>
              </a:rPr>
              <a:t>30.06.2031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Windows Server-OS </a:t>
            </a:r>
            <a:r>
              <a:rPr lang="de-DE" dirty="0">
                <a:solidFill>
                  <a:srgbClr val="FF0000"/>
                </a:solidFill>
                <a:latin typeface="+mn-lt"/>
              </a:rPr>
              <a:t>14.11.2034 </a:t>
            </a:r>
            <a:r>
              <a:rPr lang="de-DE" dirty="0">
                <a:latin typeface="+mn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Citrix Softwarevertrag läuft </a:t>
            </a:r>
            <a:r>
              <a:rPr lang="de-DE" dirty="0">
                <a:solidFill>
                  <a:srgbClr val="FF0000"/>
                </a:solidFill>
                <a:latin typeface="+mn-lt"/>
              </a:rPr>
              <a:t>31.12.2028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sz="2000" b="1" dirty="0"/>
              <a:t>Abgeleitete Termine: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>
                <a:latin typeface="+mn-lt"/>
              </a:rPr>
              <a:t>VDI-Strategie sollte bis 31.12.2026 stehen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>
                <a:latin typeface="+mn-lt"/>
              </a:rPr>
              <a:t>Alternative zu Citrix bis Mitte 2027 (für HHP 2028) positiv erprobt worden sein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>
                <a:latin typeface="+mn-lt"/>
              </a:rPr>
              <a:t>Hardware kann ggf. darüber hinaus genutzt werden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Lifecycle – Hardware/Software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837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72D62E-4F07-050B-7F36-03BCF58AF6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781" y="1592869"/>
            <a:ext cx="11086951" cy="4546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Projekt!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Citrix POC (Softwareverteilung </a:t>
            </a:r>
            <a:r>
              <a:rPr lang="de-DE" dirty="0" err="1">
                <a:latin typeface="+mn-lt"/>
              </a:rPr>
              <a:t>Ivanti</a:t>
            </a:r>
            <a:r>
              <a:rPr lang="de-DE" dirty="0">
                <a:latin typeface="+mn-lt"/>
              </a:rPr>
              <a:t>) ist bereits als Projekt/Platzhalter bei der ARGE aufgenommen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Muss in HB noch auf den Projektplan Performanceboard gemeldet werden </a:t>
            </a:r>
          </a:p>
          <a:p>
            <a:pPr>
              <a:buAutoNum type="arabicPeriod" startAt="7"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AFD6B7-0178-7EAA-9C32-474B54E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Struktur – Arbeitsgruppe, Change oder Projekt?</a:t>
            </a:r>
            <a:br>
              <a:rPr lang="de-DE"/>
            </a:b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2998D-1DB1-00BB-BFAF-94EB097BC50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9EF2C54-210A-4C97-B6C6-CF0BBEE03FB8}" type="datetime1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3119E-CCE7-51A5-3B42-75B17617D05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AOK Bremen/Bremerhaven, IT-</a:t>
            </a:r>
            <a:r>
              <a:rPr lang="en-US" err="1"/>
              <a:t>Infrastruktur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35B6B-322B-EE99-0D55-C9BB33BBD4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9385895"/>
      </p:ext>
    </p:extLst>
  </p:cSld>
  <p:clrMapOvr>
    <a:masterClrMapping/>
  </p:clrMapOvr>
</p:sld>
</file>

<file path=ppt/theme/theme1.xml><?xml version="1.0" encoding="utf-8"?>
<a:theme xmlns:a="http://schemas.openxmlformats.org/drawingml/2006/main" name="AOK PPT Template 2021">
  <a:themeElements>
    <a:clrScheme name="Benutzerdefiniert 8">
      <a:dk1>
        <a:srgbClr val="000000"/>
      </a:dk1>
      <a:lt1>
        <a:srgbClr val="FFFFFF"/>
      </a:lt1>
      <a:dk2>
        <a:srgbClr val="17AB41"/>
      </a:dk2>
      <a:lt2>
        <a:srgbClr val="005E3F"/>
      </a:lt2>
      <a:accent1>
        <a:srgbClr val="005E3F"/>
      </a:accent1>
      <a:accent2>
        <a:srgbClr val="17AB41"/>
      </a:accent2>
      <a:accent3>
        <a:srgbClr val="60D26D"/>
      </a:accent3>
      <a:accent4>
        <a:srgbClr val="07983E"/>
      </a:accent4>
      <a:accent5>
        <a:srgbClr val="35BF50"/>
      </a:accent5>
      <a:accent6>
        <a:srgbClr val="98E692"/>
      </a:accent6>
      <a:hlink>
        <a:srgbClr val="005E3F"/>
      </a:hlink>
      <a:folHlink>
        <a:srgbClr val="18AB4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AOK Hellgrün">
      <a:srgbClr val="50EB5D"/>
    </a:custClr>
    <a:custClr name="Grau 8">
      <a:srgbClr val="40484D"/>
    </a:custClr>
    <a:custClr name="Grau 6">
      <a:srgbClr val="6D767C"/>
    </a:custClr>
    <a:custClr name="Akzentgelb">
      <a:srgbClr val="FFF133"/>
    </a:custClr>
    <a:custClr name="Akzentblau">
      <a:srgbClr val="83EAF2"/>
    </a:custClr>
    <a:custClr name="Interaktivgrün">
      <a:srgbClr val="91F54A"/>
    </a:custClr>
    <a:custClr name="Pastellgrün">
      <a:srgbClr val="EBFAE8"/>
    </a:custClr>
    <a:custClr name="Pastellblau">
      <a:srgbClr val="E8F4F2"/>
    </a:custClr>
    <a:custClr name="Sand">
      <a:srgbClr val="F8F5E3"/>
    </a:custClr>
    <a:custClr name="Fehler">
      <a:srgbClr val="EB0047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Grün 8">
      <a:srgbClr val="005E3F"/>
    </a:custClr>
    <a:custClr name="Grün 4">
      <a:srgbClr val="18AB42"/>
    </a:custClr>
    <a:custClr name="Gelb">
      <a:srgbClr val="F5D954"/>
    </a:custClr>
    <a:custClr name="Hellblau Schatten">
      <a:srgbClr val="52B0BF"/>
    </a:custClr>
    <a:custClr name="Indigo Schatten">
      <a:srgbClr val="0F3580"/>
    </a:custClr>
    <a:custClr name="Violett">
      <a:srgbClr val="8263B0"/>
    </a:custClr>
    <a:custClr name="Orange">
      <a:srgbClr val="FA8C4A"/>
    </a:custClr>
    <a:custClr name="Violett Schatten">
      <a:srgbClr val="613385"/>
    </a:custClr>
    <a:custClr name="Rot">
      <a:srgbClr val="FA545E"/>
    </a:custClr>
    <a:custClr name="Indigo">
      <a:srgbClr val="526FB0"/>
    </a:custClr>
    <a:custClr name="Limette">
      <a:srgbClr val="B8D94A"/>
    </a:custClr>
    <a:custClr name="Rot Schatten">
      <a:srgbClr val="C40D38"/>
    </a:custClr>
    <a:custClr name="Hellblau">
      <a:srgbClr val="94D4DB"/>
    </a:custClr>
    <a:custClr name="Orange Schatten">
      <a:srgbClr val="CC591F"/>
    </a:custClr>
    <a:custClr name="Limette Schatten">
      <a:srgbClr val="8FB824"/>
    </a:custClr>
  </a:custClrLst>
  <a:extLst>
    <a:ext uri="{05A4C25C-085E-4340-85A3-A5531E510DB2}">
      <thm15:themeFamily xmlns:thm15="http://schemas.microsoft.com/office/thememl/2012/main" name="AOK PPT Template 2021.potx" id="{E08A9D82-1685-4E6A-9B11-C075194C06D8}" vid="{54B33FCC-C3A3-4C1B-A966-A94F349BA498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AOK">
      <a:dk1>
        <a:srgbClr val="000000"/>
      </a:dk1>
      <a:lt1>
        <a:srgbClr val="FFFFFF"/>
      </a:lt1>
      <a:dk2>
        <a:srgbClr val="50EB5D"/>
      </a:dk2>
      <a:lt2>
        <a:srgbClr val="005E3F"/>
      </a:lt2>
      <a:accent1>
        <a:srgbClr val="18AB42"/>
      </a:accent1>
      <a:accent2>
        <a:srgbClr val="FFF133"/>
      </a:accent2>
      <a:accent3>
        <a:srgbClr val="84E2F5"/>
      </a:accent3>
      <a:accent4>
        <a:srgbClr val="91F54A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AOK">
      <a:dk1>
        <a:srgbClr val="000000"/>
      </a:dk1>
      <a:lt1>
        <a:srgbClr val="FFFFFF"/>
      </a:lt1>
      <a:dk2>
        <a:srgbClr val="18AB42"/>
      </a:dk2>
      <a:lt2>
        <a:srgbClr val="005E3F"/>
      </a:lt2>
      <a:accent1>
        <a:srgbClr val="005E3F"/>
      </a:accent1>
      <a:accent2>
        <a:srgbClr val="028440"/>
      </a:accent2>
      <a:accent3>
        <a:srgbClr val="17AB41"/>
      </a:accent3>
      <a:accent4>
        <a:srgbClr val="35BF50"/>
      </a:accent4>
      <a:accent5>
        <a:srgbClr val="60D26D"/>
      </a:accent5>
      <a:accent6>
        <a:srgbClr val="98E692"/>
      </a:accent6>
      <a:hlink>
        <a:srgbClr val="005E3F"/>
      </a:hlink>
      <a:folHlink>
        <a:srgbClr val="18AB4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1216AB61E57DB48B89CEED4B13E1D88" ma:contentTypeVersion="4" ma:contentTypeDescription="Ein neues Dokument erstellen." ma:contentTypeScope="" ma:versionID="6e3401f118609e1a1f71c76ab608c66f">
  <xsd:schema xmlns:xsd="http://www.w3.org/2001/XMLSchema" xmlns:xs="http://www.w3.org/2001/XMLSchema" xmlns:p="http://schemas.microsoft.com/office/2006/metadata/properties" xmlns:ns2="6924d634-3bcd-40b4-95f7-4338b620546a" targetNamespace="http://schemas.microsoft.com/office/2006/metadata/properties" ma:root="true" ma:fieldsID="a88d5fee00a27e42325a2410150e4772" ns2:_="">
    <xsd:import namespace="6924d634-3bcd-40b4-95f7-4338b62054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24d634-3bcd-40b4-95f7-4338b62054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54A09C-5453-40F6-B2BE-0D6BF671E6A2}">
  <ds:schemaRefs>
    <ds:schemaRef ds:uri="http://purl.org/dc/dcmitype/"/>
    <ds:schemaRef ds:uri="6924d634-3bcd-40b4-95f7-4338b620546a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62F2D98-66B5-48A9-B9E6-2E31F3508D95}">
  <ds:schemaRefs>
    <ds:schemaRef ds:uri="6924d634-3bcd-40b4-95f7-4338b62054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A853F19-DB18-4EA7-87B8-CCD65615E6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AOK PPT Template 2021</Template>
  <TotalTime>0</TotalTime>
  <Words>893</Words>
  <Application>Microsoft Office PowerPoint</Application>
  <PresentationFormat>Breitbild</PresentationFormat>
  <Paragraphs>259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17</vt:i4>
      </vt:variant>
    </vt:vector>
  </HeadingPairs>
  <TitlesOfParts>
    <vt:vector size="25" baseType="lpstr">
      <vt:lpstr>Wingdings</vt:lpstr>
      <vt:lpstr>Calibri Light</vt:lpstr>
      <vt:lpstr>AOK Buenos Aires SemiBold</vt:lpstr>
      <vt:lpstr>Arial</vt:lpstr>
      <vt:lpstr>AOK Buenos Aires</vt:lpstr>
      <vt:lpstr>Calibri</vt:lpstr>
      <vt:lpstr>AOK PPT Template 2021</vt:lpstr>
      <vt:lpstr>Benutzerdefiniertes Design</vt:lpstr>
      <vt:lpstr>Citrix Exit?</vt:lpstr>
      <vt:lpstr>PowerPoint-Präsentation</vt:lpstr>
      <vt:lpstr>PowerPoint-Präsentation</vt:lpstr>
      <vt:lpstr>Erwartungen, Ambitionen und Ziele AOKs  </vt:lpstr>
      <vt:lpstr>Erwartungen, Ambitionen und Ziele ARGE  </vt:lpstr>
      <vt:lpstr>Softwareverteilung Status Quo   </vt:lpstr>
      <vt:lpstr>POC Ausbau Lokale Softwareverteilung   </vt:lpstr>
      <vt:lpstr>POC Ausbau Lokale Softwareverteilung   </vt:lpstr>
      <vt:lpstr>POC Ausbau Lokale Softwareverteilung   </vt:lpstr>
      <vt:lpstr>POC Ausbau Lokale Softwareverteilung   </vt:lpstr>
      <vt:lpstr>Leistungsschnitt Softwareverteilung Zukunft   </vt:lpstr>
      <vt:lpstr>Sonder- und Eigenanwendungen      </vt:lpstr>
      <vt:lpstr>VDI Alternative Lösungen    </vt:lpstr>
      <vt:lpstr>Marktanalyse VDI Anbieter   </vt:lpstr>
      <vt:lpstr>Use-Cases für VDI   </vt:lpstr>
      <vt:lpstr>Lifecycle – Hardware/Software  </vt:lpstr>
      <vt:lpstr>Struktur – Arbeitsgruppe, Change oder Projekt? </vt:lpstr>
    </vt:vector>
  </TitlesOfParts>
  <Company>AOK Bremen/Bremerhaven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Master AOKHB 2021</dc:title>
  <dc:creator/>
  <cp:keywords/>
  <cp:lastModifiedBy>Binas, Helge</cp:lastModifiedBy>
  <cp:revision>2</cp:revision>
  <dcterms:created xsi:type="dcterms:W3CDTF">2021-11-19T12:56:38Z</dcterms:created>
  <dcterms:modified xsi:type="dcterms:W3CDTF">2026-01-21T07:36:02Z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0x010100E1216AB61E57DB48B89CEED4B13E1D88</vt:lpwstr>
  </property>
  <property fmtid="{D5CDD505-2E9C-101B-9397-08002B2CF9AE}" pid="3" name="TaxKeyword">
    <vt:lpwstr/>
  </property>
  <property fmtid="{D5CDD505-2E9C-101B-9397-08002B2CF9AE}" pid="4" name="triThemes">
    <vt:lpwstr/>
  </property>
  <property fmtid="{D5CDD505-2E9C-101B-9397-08002B2CF9AE}" pid="5" name="triDocumentClass">
    <vt:lpwstr/>
  </property>
  <property fmtid="{D5CDD505-2E9C-101B-9397-08002B2CF9AE}" pid="6" name="triOrgUnits">
    <vt:lpwstr/>
  </property>
  <property fmtid="{D5CDD505-2E9C-101B-9397-08002B2CF9AE}" pid="7" name="triDocumentTyp">
    <vt:lpwstr/>
  </property>
  <property fmtid="{D5CDD505-2E9C-101B-9397-08002B2CF9AE}" pid="8" name="triServices">
    <vt:lpwstr/>
  </property>
  <property fmtid="{D5CDD505-2E9C-101B-9397-08002B2CF9AE}" pid="9" name="triTargetGroup">
    <vt:lpwstr/>
  </property>
</Properties>
</file>