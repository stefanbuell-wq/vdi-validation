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56" r:id="rId5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70" r:id="rId31"/>
    <p:sldId id="271" r:id="rId32"/>
    <p:sldId id="272" r:id="rId33"/>
    <p:sldId id="273" r:id="rId34"/>
    <p:sldId id="274" r:id="rId35"/>
    <p:sldId id="275" r:id="rId36"/>
    <p:sldId id="276" r:id="rId37"/>
    <p:sldId id="277" r:id="rId38"/>
    <p:sldId id="278" r:id="rId39"/>
    <p:sldId id="279" r:id="rId40"/>
    <p:sldId id="280" r:id="rId41"/>
  </p:sldIdLst>
  <p:sldSz cx="12192000" cy="6858000"/>
  <p:notesSz cx="6858000" cy="9144000"/>
  <p:embeddedFontLst>
    <p:embeddedFont>
      <p:font typeface="AOK Buenos Aires" pitchFamily="2" charset="0"/>
      <p:regular r:id="rId8"/>
      <p:bold r:id="rId9"/>
      <p:italic r:id="rId10"/>
      <p:boldItalic r:id="rId11"/>
    </p:embeddedFont>
    <p:embeddedFont>
      <p:font typeface="AOK Buenos Aires SemiBold" pitchFamily="2" charset="0"/>
      <p:bold r:id="rId12"/>
      <p:boldItalic r:id="rId13"/>
    </p:embeddedFont>
  </p:embeddedFontLst>
  <p:defaultTextStyle>
    <a:defPPr>
      <a:defRPr lang="de-DE"/>
    </a:defPPr>
    <a:lvl1pPr marL="0" indent="0" algn="l" defTabSz="914400" rtl="0" eaLnBrk="1" latinLnBrk="0" hangingPunct="1">
      <a:lnSpc>
        <a:spcPct val="110000"/>
      </a:lnSpc>
      <a:spcBef>
        <a:spcPts val="200"/>
      </a:spcBef>
      <a:buFontTx/>
      <a:buNone/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180000" indent="-180000" algn="l" defTabSz="914400" rtl="0" eaLnBrk="1" latinLnBrk="0" hangingPunct="1">
      <a:lnSpc>
        <a:spcPct val="110000"/>
      </a:lnSpc>
      <a:spcBef>
        <a:spcPts val="700"/>
      </a:spcBef>
      <a:spcAft>
        <a:spcPts val="200"/>
      </a:spcAft>
      <a:buClrTx/>
      <a:buFont typeface="AOK Buenos Aires" pitchFamily="50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360000" indent="-180000" algn="l" defTabSz="914400" rtl="0" eaLnBrk="1" latinLnBrk="0" hangingPunct="1">
      <a:lnSpc>
        <a:spcPct val="110000"/>
      </a:lnSpc>
      <a:spcBef>
        <a:spcPts val="700"/>
      </a:spcBef>
      <a:spcAft>
        <a:spcPts val="200"/>
      </a:spcAft>
      <a:buClrTx/>
      <a:buFont typeface="AOK Buenos Aires" pitchFamily="50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540000" indent="-180000" algn="l" defTabSz="914400" rtl="0" eaLnBrk="1" latinLnBrk="0" hangingPunct="1">
      <a:lnSpc>
        <a:spcPct val="110000"/>
      </a:lnSpc>
      <a:spcBef>
        <a:spcPts val="700"/>
      </a:spcBef>
      <a:spcAft>
        <a:spcPts val="200"/>
      </a:spcAft>
      <a:buFont typeface="AOK Buenos Aires" pitchFamily="50" charset="0"/>
      <a:buChar char="–"/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720000" indent="-180000" algn="l" defTabSz="914400" rtl="0" eaLnBrk="1" latinLnBrk="0" hangingPunct="1">
      <a:lnSpc>
        <a:spcPct val="110000"/>
      </a:lnSpc>
      <a:spcBef>
        <a:spcPts val="700"/>
      </a:spcBef>
      <a:spcAft>
        <a:spcPts val="200"/>
      </a:spcAft>
      <a:buFont typeface="AOK Buenos Aires" pitchFamily="50" charset="0"/>
      <a:buChar char="–"/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720000" indent="-180000" algn="l" defTabSz="914400" rtl="0" eaLnBrk="1" latinLnBrk="0" hangingPunct="1">
      <a:lnSpc>
        <a:spcPct val="110000"/>
      </a:lnSpc>
      <a:spcBef>
        <a:spcPts val="700"/>
      </a:spcBef>
      <a:spcAft>
        <a:spcPts val="200"/>
      </a:spcAft>
      <a:buFont typeface="AOK Buenos Aires" pitchFamily="2" charset="0"/>
      <a:buChar char="–"/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720000" indent="-180000" algn="l" defTabSz="914400" rtl="0" eaLnBrk="1" latinLnBrk="0" hangingPunct="1">
      <a:lnSpc>
        <a:spcPct val="110000"/>
      </a:lnSpc>
      <a:spcBef>
        <a:spcPts val="700"/>
      </a:spcBef>
      <a:spcAft>
        <a:spcPts val="200"/>
      </a:spcAft>
      <a:buFont typeface="AOK Buenos Aires" pitchFamily="2" charset="0"/>
      <a:buChar char="–"/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720000" indent="-180000" algn="l" defTabSz="914400" rtl="0" eaLnBrk="1" latinLnBrk="0" hangingPunct="1">
      <a:lnSpc>
        <a:spcPct val="110000"/>
      </a:lnSpc>
      <a:spcBef>
        <a:spcPts val="700"/>
      </a:spcBef>
      <a:spcAft>
        <a:spcPts val="200"/>
      </a:spcAft>
      <a:buFont typeface="AOK Buenos Aires" pitchFamily="2" charset="0"/>
      <a:buChar char="–"/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720000" indent="-180000" algn="l" defTabSz="914400" rtl="0" eaLnBrk="1" latinLnBrk="0" hangingPunct="1">
      <a:lnSpc>
        <a:spcPct val="110000"/>
      </a:lnSpc>
      <a:spcBef>
        <a:spcPts val="700"/>
      </a:spcBef>
      <a:spcAft>
        <a:spcPts val="200"/>
      </a:spcAft>
      <a:buFont typeface="AOK Buenos Aires" pitchFamily="2" charset="0"/>
      <a:buChar char="–"/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005E3F"/>
    <a:srgbClr val="07983E"/>
    <a:srgbClr val="17AB41"/>
    <a:srgbClr val="60D2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45" autoAdjust="0"/>
    <p:restoredTop sz="94660"/>
  </p:normalViewPr>
  <p:slideViewPr>
    <p:cSldViewPr snapToGrid="0" showGuides="1">
      <p:cViewPr varScale="1">
        <p:scale>
          <a:sx n="137" d="100"/>
          <a:sy n="137" d="100"/>
        </p:scale>
        <p:origin x="156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168"/>
    </p:cViewPr>
  </p:sorterViewPr>
  <p:notesViewPr>
    <p:cSldViewPr snapToGrid="0" showGuides="1">
      <p:cViewPr varScale="1">
        <p:scale>
          <a:sx n="84" d="100"/>
          <a:sy n="84" d="100"/>
        </p:scale>
        <p:origin x="330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3.xml"/><Relationship Id="rId30" Type="http://schemas.openxmlformats.org/officeDocument/2006/relationships/slide" Target="slides/slide14.xml"/><Relationship Id="rId31" Type="http://schemas.openxmlformats.org/officeDocument/2006/relationships/slide" Target="slides/slide15.xml"/><Relationship Id="rId32" Type="http://schemas.openxmlformats.org/officeDocument/2006/relationships/slide" Target="slides/slide16.xml"/><Relationship Id="rId33" Type="http://schemas.openxmlformats.org/officeDocument/2006/relationships/slide" Target="slides/slide17.xml"/><Relationship Id="rId34" Type="http://schemas.openxmlformats.org/officeDocument/2006/relationships/slide" Target="slides/slide18.xml"/><Relationship Id="rId35" Type="http://schemas.openxmlformats.org/officeDocument/2006/relationships/slide" Target="slides/slide19.xml"/><Relationship Id="rId36" Type="http://schemas.openxmlformats.org/officeDocument/2006/relationships/slide" Target="slides/slide20.xml"/><Relationship Id="rId37" Type="http://schemas.openxmlformats.org/officeDocument/2006/relationships/slide" Target="slides/slide21.xml"/><Relationship Id="rId38" Type="http://schemas.openxmlformats.org/officeDocument/2006/relationships/slide" Target="slides/slide22.xml"/><Relationship Id="rId39" Type="http://schemas.openxmlformats.org/officeDocument/2006/relationships/slide" Target="slides/slide23.xml"/><Relationship Id="rId40" Type="http://schemas.openxmlformats.org/officeDocument/2006/relationships/slide" Target="slides/slide24.xml"/><Relationship Id="rId41" Type="http://schemas.openxmlformats.org/officeDocument/2006/relationships/slide" Target="slides/slide2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C4D45621-570F-4B01-BD50-E79AAC2B84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59433FF-4377-4C47-918B-9E6287F1251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D8D6E-6120-4A44-A25C-8C5BB507A9D3}" type="datetimeFigureOut">
              <a:rPr lang="de-DE" smtClean="0"/>
              <a:t>06.08.2025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EFD5EFD-C73F-4D9A-BDD9-0FB3E0E1905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CC065E1-2854-4644-8BE6-64B85ADB970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B0922B-AC95-407B-9A06-1A1351A815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943224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9C25A4-331B-4CD4-95C4-89EEB4BFD759}" type="datetimeFigureOut">
              <a:rPr lang="de-DE" smtClean="0"/>
              <a:t>06.08.2025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E88927-22E3-4DE7-94E5-F2F2BC8A84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8350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, dunkles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87090275-15F6-4A50-A0B3-D8838A69A87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-4115" y="-4266"/>
            <a:ext cx="12196115" cy="6862266"/>
          </a:xfrm>
          <a:noFill/>
          <a:ln>
            <a:noFill/>
          </a:ln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0" name="Textplatzhalter 9">
            <a:extLst>
              <a:ext uri="{FF2B5EF4-FFF2-40B4-BE49-F238E27FC236}">
                <a16:creationId xmlns:a16="http://schemas.microsoft.com/office/drawing/2014/main" id="{1845AB65-8AFF-4E7F-9C0D-35DCCABE40D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531813" y="6035041"/>
            <a:ext cx="4545446" cy="518091"/>
          </a:xfrm>
        </p:spPr>
        <p:txBody>
          <a:bodyPr anchor="b" anchorCtr="0">
            <a:noAutofit/>
          </a:bodyPr>
          <a:lstStyle>
            <a:lvl1pPr algn="l">
              <a:lnSpc>
                <a:spcPct val="11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AOK. Die Gesundheitskasse.</a:t>
            </a:r>
          </a:p>
        </p:txBody>
      </p:sp>
      <p:sp>
        <p:nvSpPr>
          <p:cNvPr id="21" name="Textplatzhalter 9">
            <a:extLst>
              <a:ext uri="{FF2B5EF4-FFF2-40B4-BE49-F238E27FC236}">
                <a16:creationId xmlns:a16="http://schemas.microsoft.com/office/drawing/2014/main" id="{CA7CEA14-15FA-432A-92AD-462DD6B53B0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7876309" y="6036450"/>
            <a:ext cx="3747366" cy="518091"/>
          </a:xfrm>
          <a:noFill/>
        </p:spPr>
        <p:txBody>
          <a:bodyPr anchor="b" anchorCtr="0">
            <a:noAutofit/>
          </a:bodyPr>
          <a:lstStyle>
            <a:lvl1pPr algn="r">
              <a:spcBef>
                <a:spcPts val="0"/>
              </a:spcBef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Geschäftsbereich</a:t>
            </a:r>
          </a:p>
          <a:p>
            <a:pPr lvl="0"/>
            <a:r>
              <a:rPr lang="de-DE" dirty="0"/>
              <a:t>23.03.2021 </a:t>
            </a: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4440F751-F1B1-4184-AC41-4E5522B1A3D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531813" y="1603429"/>
            <a:ext cx="11091861" cy="2111066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24" name="Untertitel 2">
            <a:extLst>
              <a:ext uri="{FF2B5EF4-FFF2-40B4-BE49-F238E27FC236}">
                <a16:creationId xmlns:a16="http://schemas.microsoft.com/office/drawing/2014/main" id="{08777931-BF26-4942-B1F5-57DA3641ECE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531813" y="3704400"/>
            <a:ext cx="11091861" cy="1495794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5400">
                <a:solidFill>
                  <a:srgbClr val="50EB5D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45396BF-EB95-4D09-ABF2-4AFD8070284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777970" y="366293"/>
            <a:ext cx="1845705" cy="57071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9F6632B2-A494-4AB8-9BCC-FFAE08706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531813" y="5246997"/>
            <a:ext cx="1710000" cy="284630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Version</a:t>
            </a:r>
          </a:p>
        </p:txBody>
      </p:sp>
    </p:spTree>
    <p:extLst>
      <p:ext uri="{BB962C8B-B14F-4D97-AF65-F5344CB8AC3E}">
        <p14:creationId xmlns:p14="http://schemas.microsoft.com/office/powerpoint/2010/main" val="3944092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3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, helles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8C97E1AC-4A6C-496A-AA95-558B83F4A68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8EFDE1AE-A037-4805-9646-7E9F3D626A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76800" y="6036450"/>
            <a:ext cx="3747366" cy="518091"/>
          </a:xfrm>
        </p:spPr>
        <p:txBody>
          <a:bodyPr anchor="b" anchorCtr="0">
            <a:noAutofit/>
          </a:bodyPr>
          <a:lstStyle>
            <a:lvl1pPr algn="r">
              <a:lnSpc>
                <a:spcPct val="110000"/>
              </a:lnSpc>
              <a:spcBef>
                <a:spcPts val="0"/>
              </a:spcBef>
              <a:defRPr sz="16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de-DE" dirty="0"/>
              <a:t>Geschäftsbereich</a:t>
            </a:r>
          </a:p>
          <a:p>
            <a:pPr lvl="0"/>
            <a:r>
              <a:rPr lang="de-DE" dirty="0"/>
              <a:t>23.03.2021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CE0FD002-BC2D-4EC6-9899-BCD3740930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7372" y="6036450"/>
            <a:ext cx="4541676" cy="518091"/>
          </a:xfrm>
        </p:spPr>
        <p:txBody>
          <a:bodyPr anchor="b" anchorCtr="0">
            <a:noAutofit/>
          </a:bodyPr>
          <a:lstStyle>
            <a:lvl1pPr algn="l">
              <a:lnSpc>
                <a:spcPct val="11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AOK. Die Gesundheitskasse.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0CD3F88-891E-4A06-9706-3CFD4BDCD3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777600" y="367200"/>
            <a:ext cx="1846800" cy="55115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C6605B27-C8AF-4CCF-ADB6-D51FE59770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531813" y="1603429"/>
            <a:ext cx="11091861" cy="2111066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400">
                <a:solidFill>
                  <a:schemeClr val="bg2"/>
                </a:solidFill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13" name="Untertitel 2">
            <a:extLst>
              <a:ext uri="{FF2B5EF4-FFF2-40B4-BE49-F238E27FC236}">
                <a16:creationId xmlns:a16="http://schemas.microsoft.com/office/drawing/2014/main" id="{20727200-880F-4250-94BC-894A848C5EF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531813" y="3704400"/>
            <a:ext cx="11091861" cy="1495794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5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E43B869A-41B0-453D-B552-273CF3201E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531813" y="5245491"/>
            <a:ext cx="1710000" cy="284630"/>
          </a:xfrm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Version</a:t>
            </a:r>
          </a:p>
        </p:txBody>
      </p:sp>
    </p:spTree>
    <p:extLst>
      <p:ext uri="{BB962C8B-B14F-4D97-AF65-F5344CB8AC3E}">
        <p14:creationId xmlns:p14="http://schemas.microsoft.com/office/powerpoint/2010/main" val="1734860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3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, grün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1BB3203-C363-4148-836A-4D530799BE4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694F3AB-2137-4E04-8FC4-2C34D388DCA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7876800" y="6036450"/>
            <a:ext cx="3747366" cy="518091"/>
          </a:xfrm>
        </p:spPr>
        <p:txBody>
          <a:bodyPr anchor="b" anchorCtr="0">
            <a:noAutofit/>
          </a:bodyPr>
          <a:lstStyle>
            <a:lvl1pPr algn="r">
              <a:lnSpc>
                <a:spcPct val="110000"/>
              </a:lnSpc>
              <a:spcBef>
                <a:spcPts val="0"/>
              </a:spcBef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Geschäftsbereich</a:t>
            </a:r>
          </a:p>
          <a:p>
            <a:pPr lvl="0"/>
            <a:r>
              <a:rPr lang="de-DE"/>
              <a:t>Datum</a:t>
            </a:r>
            <a:endParaRPr lang="de-DE" dirty="0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E78C8315-ABD7-4D7D-A207-4E35DDE9DA9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531057" y="6036450"/>
            <a:ext cx="4545446" cy="518091"/>
          </a:xfrm>
        </p:spPr>
        <p:txBody>
          <a:bodyPr anchor="b" anchorCtr="0">
            <a:noAutofit/>
          </a:bodyPr>
          <a:lstStyle>
            <a:lvl1pPr algn="l">
              <a:lnSpc>
                <a:spcPct val="11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AOK. Die Gesundheitskasse.</a:t>
            </a:r>
          </a:p>
        </p:txBody>
      </p:sp>
      <p:sp>
        <p:nvSpPr>
          <p:cNvPr id="16" name="Untertitel 2">
            <a:extLst>
              <a:ext uri="{FF2B5EF4-FFF2-40B4-BE49-F238E27FC236}">
                <a16:creationId xmlns:a16="http://schemas.microsoft.com/office/drawing/2014/main" id="{28E5BB5A-921E-4778-B6BD-995E235A051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531057" y="2977200"/>
            <a:ext cx="11085578" cy="1495794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5400">
                <a:solidFill>
                  <a:srgbClr val="50EB5D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</a:t>
            </a:r>
          </a:p>
        </p:txBody>
      </p:sp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B82AF6B0-E404-465A-874D-CB534032D2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white">
          <a:xfrm>
            <a:off x="531057" y="4521891"/>
            <a:ext cx="2449348" cy="284630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Version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DF67960-46BA-4036-949F-C50B20A1D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057" y="1495101"/>
            <a:ext cx="11083193" cy="1495794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D4363FB-C412-413B-9FAB-80696506F0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77600" y="367200"/>
            <a:ext cx="1846803" cy="57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738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3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, weiß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9">
            <a:extLst>
              <a:ext uri="{FF2B5EF4-FFF2-40B4-BE49-F238E27FC236}">
                <a16:creationId xmlns:a16="http://schemas.microsoft.com/office/drawing/2014/main" id="{5A4F22C9-1654-4790-B53A-D4CC942D98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814" y="6036450"/>
            <a:ext cx="4545446" cy="518091"/>
          </a:xfrm>
        </p:spPr>
        <p:txBody>
          <a:bodyPr anchor="b" anchorCtr="0">
            <a:noAutofit/>
          </a:bodyPr>
          <a:lstStyle>
            <a:lvl1pPr algn="l">
              <a:lnSpc>
                <a:spcPct val="110000"/>
              </a:lnSpc>
              <a:spcBef>
                <a:spcPts val="0"/>
              </a:spcBef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AOK. Die Gesundheitskasse.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8A479DC7-18B8-4039-89CD-AEA013905A6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76800" y="6036450"/>
            <a:ext cx="3747366" cy="518091"/>
          </a:xfrm>
        </p:spPr>
        <p:txBody>
          <a:bodyPr anchor="b" anchorCtr="0">
            <a:noAutofit/>
          </a:bodyPr>
          <a:lstStyle>
            <a:lvl1pPr algn="r">
              <a:lnSpc>
                <a:spcPct val="110000"/>
              </a:lnSpc>
              <a:spcBef>
                <a:spcPts val="0"/>
              </a:spcBef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Geschäftsbereich</a:t>
            </a:r>
          </a:p>
          <a:p>
            <a:pPr lvl="0"/>
            <a:r>
              <a:rPr lang="de-DE" dirty="0"/>
              <a:t>23.03.2021 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9975A18-BEA9-4D18-BA6A-009614974D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77600" y="367200"/>
            <a:ext cx="1847708" cy="572400"/>
          </a:xfrm>
          <a:prstGeom prst="rect">
            <a:avLst/>
          </a:prstGeom>
        </p:spPr>
      </p:pic>
      <p:sp>
        <p:nvSpPr>
          <p:cNvPr id="11" name="Untertitel 2">
            <a:extLst>
              <a:ext uri="{FF2B5EF4-FFF2-40B4-BE49-F238E27FC236}">
                <a16:creationId xmlns:a16="http://schemas.microsoft.com/office/drawing/2014/main" id="{8E5C30D8-2BCD-47AB-9013-AA50AB6CA6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531057" y="2977200"/>
            <a:ext cx="11085578" cy="1495794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5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ED52791E-8EC4-4B0B-805F-D6370AE70C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white">
          <a:xfrm>
            <a:off x="531057" y="4521891"/>
            <a:ext cx="2449348" cy="284630"/>
          </a:xfrm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Version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A04ADD58-27DD-45B1-B7C2-84C0908B3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057" y="1495101"/>
            <a:ext cx="11083193" cy="1495794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chemeClr val="bg2"/>
                </a:solidFill>
              </a:defRPr>
            </a:lvl1pPr>
          </a:lstStyle>
          <a:p>
            <a:r>
              <a:rPr lang="de-DE" dirty="0"/>
              <a:t>Titel</a:t>
            </a:r>
          </a:p>
        </p:txBody>
      </p:sp>
    </p:spTree>
    <p:extLst>
      <p:ext uri="{BB962C8B-B14F-4D97-AF65-F5344CB8AC3E}">
        <p14:creationId xmlns:p14="http://schemas.microsoft.com/office/powerpoint/2010/main" val="2198847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3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 grün mit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>
            <a:extLst>
              <a:ext uri="{FF2B5EF4-FFF2-40B4-BE49-F238E27FC236}">
                <a16:creationId xmlns:a16="http://schemas.microsoft.com/office/drawing/2014/main" id="{8C5D2399-B72C-459F-A7BA-310AFD0615F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2590" y="0"/>
            <a:ext cx="6009409" cy="6858000"/>
          </a:xfrm>
          <a:ln>
            <a:noFill/>
          </a:ln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F07EB19-265A-42E0-A495-94727F79BED8}"/>
              </a:ext>
            </a:extLst>
          </p:cNvPr>
          <p:cNvSpPr/>
          <p:nvPr/>
        </p:nvSpPr>
        <p:spPr>
          <a:xfrm>
            <a:off x="0" y="0"/>
            <a:ext cx="618259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CDD8C261-14CD-41F2-8438-8767709F8E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7876309" y="6036450"/>
            <a:ext cx="3747366" cy="518091"/>
          </a:xfrm>
        </p:spPr>
        <p:txBody>
          <a:bodyPr anchor="b" anchorCtr="0">
            <a:noAutofit/>
          </a:bodyPr>
          <a:lstStyle>
            <a:lvl1pPr algn="r">
              <a:lnSpc>
                <a:spcPct val="110000"/>
              </a:lnSpc>
              <a:spcBef>
                <a:spcPts val="0"/>
              </a:spcBef>
              <a:defRPr sz="16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Geschäftsbereich</a:t>
            </a:r>
          </a:p>
          <a:p>
            <a:pPr lvl="0"/>
            <a:r>
              <a:rPr lang="de-DE" dirty="0"/>
              <a:t>23.03.2021 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FC0D7BFB-D231-4519-8F2B-8CC98C548B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534946" y="6036450"/>
            <a:ext cx="4545446" cy="518091"/>
          </a:xfrm>
        </p:spPr>
        <p:txBody>
          <a:bodyPr anchor="b" anchorCtr="0">
            <a:noAutofit/>
          </a:bodyPr>
          <a:lstStyle>
            <a:lvl1pPr algn="l">
              <a:lnSpc>
                <a:spcPct val="11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AOK. Die Gesundheitskasse.</a:t>
            </a:r>
          </a:p>
        </p:txBody>
      </p:sp>
      <p:sp>
        <p:nvSpPr>
          <p:cNvPr id="11" name="Textplatzhalter 4">
            <a:extLst>
              <a:ext uri="{FF2B5EF4-FFF2-40B4-BE49-F238E27FC236}">
                <a16:creationId xmlns:a16="http://schemas.microsoft.com/office/drawing/2014/main" id="{EFBEBADF-57C3-4FCA-A056-47D977B531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4946" y="521195"/>
            <a:ext cx="1809288" cy="55945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B13D2689-086F-4081-85FF-0294A83793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4946" y="1521278"/>
            <a:ext cx="5112000" cy="1569660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15" name="Untertitel 2">
            <a:extLst>
              <a:ext uri="{FF2B5EF4-FFF2-40B4-BE49-F238E27FC236}">
                <a16:creationId xmlns:a16="http://schemas.microsoft.com/office/drawing/2014/main" id="{FDF15B46-0E4D-4410-B1FA-F68A4F7E5C0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4946" y="3078000"/>
            <a:ext cx="5106881" cy="1107996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4000">
                <a:solidFill>
                  <a:srgbClr val="50EB5D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</a:t>
            </a:r>
          </a:p>
        </p:txBody>
      </p:sp>
      <p:sp>
        <p:nvSpPr>
          <p:cNvPr id="16" name="Textplatzhalter 9">
            <a:extLst>
              <a:ext uri="{FF2B5EF4-FFF2-40B4-BE49-F238E27FC236}">
                <a16:creationId xmlns:a16="http://schemas.microsoft.com/office/drawing/2014/main" id="{A7641F7D-765B-444D-9B02-EBB4B005AD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4946" y="4233735"/>
            <a:ext cx="2449348" cy="284630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Version </a:t>
            </a:r>
          </a:p>
        </p:txBody>
      </p:sp>
    </p:spTree>
    <p:extLst>
      <p:ext uri="{BB962C8B-B14F-4D97-AF65-F5344CB8AC3E}">
        <p14:creationId xmlns:p14="http://schemas.microsoft.com/office/powerpoint/2010/main" val="457274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2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 weiß mit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>
            <a:extLst>
              <a:ext uri="{FF2B5EF4-FFF2-40B4-BE49-F238E27FC236}">
                <a16:creationId xmlns:a16="http://schemas.microsoft.com/office/drawing/2014/main" id="{8C5D2399-B72C-459F-A7BA-310AFD0615F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72200" y="0"/>
            <a:ext cx="6019800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B716A4D0-27B2-44CE-BCBE-2BC27AB46E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76309" y="6036450"/>
            <a:ext cx="3747366" cy="518091"/>
          </a:xfrm>
        </p:spPr>
        <p:txBody>
          <a:bodyPr anchor="b" anchorCtr="0">
            <a:noAutofit/>
          </a:bodyPr>
          <a:lstStyle>
            <a:lvl1pPr algn="r">
              <a:lnSpc>
                <a:spcPct val="110000"/>
              </a:lnSpc>
              <a:spcBef>
                <a:spcPts val="0"/>
              </a:spcBef>
              <a:defRPr sz="16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Geschäftsbereich</a:t>
            </a:r>
          </a:p>
          <a:p>
            <a:pPr lvl="0"/>
            <a:r>
              <a:rPr lang="de-DE" dirty="0"/>
              <a:t>23.03.2021 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233ED22B-5409-4DE9-A940-B5EE90A352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813" y="6036450"/>
            <a:ext cx="4545446" cy="518091"/>
          </a:xfrm>
        </p:spPr>
        <p:txBody>
          <a:bodyPr anchor="b" anchorCtr="0">
            <a:noAutofit/>
          </a:bodyPr>
          <a:lstStyle>
            <a:lvl1pPr algn="l">
              <a:lnSpc>
                <a:spcPct val="110000"/>
              </a:lnSpc>
              <a:spcBef>
                <a:spcPts val="0"/>
              </a:spcBef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AOK. Die Gesundheitskasse.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4E7E0875-4B7E-4E1A-B909-136FFFEDB97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1813" y="521196"/>
            <a:ext cx="1805934" cy="55945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DADE93C4-AFB8-4501-BB5F-9ADF0ECE983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4946" y="1521278"/>
            <a:ext cx="5112000" cy="1569660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4000">
                <a:solidFill>
                  <a:schemeClr val="bg2"/>
                </a:solidFill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16" name="Untertitel 2">
            <a:extLst>
              <a:ext uri="{FF2B5EF4-FFF2-40B4-BE49-F238E27FC236}">
                <a16:creationId xmlns:a16="http://schemas.microsoft.com/office/drawing/2014/main" id="{C8C72064-69F4-41A2-BE07-D0B4C54B7E4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4946" y="3078000"/>
            <a:ext cx="5106881" cy="1107996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</a:t>
            </a:r>
          </a:p>
        </p:txBody>
      </p:sp>
      <p:sp>
        <p:nvSpPr>
          <p:cNvPr id="17" name="Textplatzhalter 9">
            <a:extLst>
              <a:ext uri="{FF2B5EF4-FFF2-40B4-BE49-F238E27FC236}">
                <a16:creationId xmlns:a16="http://schemas.microsoft.com/office/drawing/2014/main" id="{FE5C9651-C8CB-4CC4-A903-1A98FA8C14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4946" y="4233735"/>
            <a:ext cx="2449348" cy="284630"/>
          </a:xfrm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Version </a:t>
            </a:r>
          </a:p>
        </p:txBody>
      </p:sp>
    </p:spTree>
    <p:extLst>
      <p:ext uri="{BB962C8B-B14F-4D97-AF65-F5344CB8AC3E}">
        <p14:creationId xmlns:p14="http://schemas.microsoft.com/office/powerpoint/2010/main" val="3469960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31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3BB6FA4B-76A1-4E3E-9C1E-8804DA7AF032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96051554-5AD2-425D-ADFE-C1CF3BA6F0E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AFED49C0-07BE-4062-82AD-BADE94294BF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Inhaltsplatzhalter 7">
            <a:extLst>
              <a:ext uri="{FF2B5EF4-FFF2-40B4-BE49-F238E27FC236}">
                <a16:creationId xmlns:a16="http://schemas.microsoft.com/office/drawing/2014/main" id="{E20627DD-CF1A-45B3-81AB-34B5BEA2E904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37882" y="1786816"/>
            <a:ext cx="11084850" cy="4248000"/>
          </a:xfrm>
        </p:spPr>
        <p:txBody>
          <a:bodyPr numCol="1" spcCol="0"/>
          <a:lstStyle>
            <a:lvl1pPr marL="431989" indent="-431989">
              <a:spcBef>
                <a:spcPts val="1200"/>
              </a:spcBef>
              <a:buFont typeface="+mj-lt"/>
              <a:buAutoNum type="arabicPeriod"/>
              <a:defRPr sz="1800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300"/>
              </a:spcBef>
              <a:buFontTx/>
              <a:buNone/>
              <a:defRPr sz="1800">
                <a:solidFill>
                  <a:schemeClr val="tx1"/>
                </a:solidFill>
              </a:defRPr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2D6B8693-5F84-4826-BA1C-EB694EE1F2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515700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22" userDrawn="1">
          <p15:clr>
            <a:srgbClr val="FBAE40"/>
          </p15:clr>
        </p15:guide>
        <p15:guide id="2" orient="horz" pos="4186" userDrawn="1">
          <p15:clr>
            <a:srgbClr val="FBAE40"/>
          </p15:clr>
        </p15:guide>
        <p15:guide id="3" orient="horz" pos="72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ennfolie, dunkles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E804AA01-EE90-431B-8719-89B12245BD0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6" name="Textplatzhalter 4">
            <a:extLst>
              <a:ext uri="{FF2B5EF4-FFF2-40B4-BE49-F238E27FC236}">
                <a16:creationId xmlns:a16="http://schemas.microsoft.com/office/drawing/2014/main" id="{B1D75816-A06C-40DE-ADE2-C02E24C9CDC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385992" y="372208"/>
            <a:ext cx="1235869" cy="38417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36F6450-F02E-42DA-A75E-DAF6A54D03C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108" y="1864800"/>
            <a:ext cx="3506375" cy="70055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1.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9B9F7BF-39C7-4B47-AE9C-FE706CF0C1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813" y="2565353"/>
            <a:ext cx="8359939" cy="2954655"/>
          </a:xfrm>
        </p:spPr>
        <p:txBody>
          <a:bodyPr anchor="t"/>
          <a:lstStyle>
            <a:lvl1pPr>
              <a:lnSpc>
                <a:spcPct val="85000"/>
              </a:lnSpc>
              <a:defRPr sz="4800">
                <a:solidFill>
                  <a:srgbClr val="50EB5D"/>
                </a:solidFill>
              </a:defRPr>
            </a:lvl1pPr>
          </a:lstStyle>
          <a:p>
            <a:r>
              <a:rPr lang="de-DE" dirty="0" err="1"/>
              <a:t>Kapiteltrenner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59646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ennfolie, helles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E804AA01-EE90-431B-8719-89B12245BD0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6" name="Textplatzhalter 8">
            <a:extLst>
              <a:ext uri="{FF2B5EF4-FFF2-40B4-BE49-F238E27FC236}">
                <a16:creationId xmlns:a16="http://schemas.microsoft.com/office/drawing/2014/main" id="{5820C90E-2107-4D6E-B0AA-34BA9BE63E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108" y="1864800"/>
            <a:ext cx="3506375" cy="70055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8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1.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A6E9A9-32DD-42BB-A859-692C2CC93B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813" y="2565353"/>
            <a:ext cx="8359939" cy="2954655"/>
          </a:xfrm>
        </p:spPr>
        <p:txBody>
          <a:bodyPr anchor="t"/>
          <a:lstStyle>
            <a:lvl1pPr>
              <a:lnSpc>
                <a:spcPct val="85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de-DE" dirty="0" err="1"/>
              <a:t>Kapiteltrenner</a:t>
            </a:r>
            <a:endParaRPr lang="de-DE" dirty="0"/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71229B49-CD6C-4FFD-ACB2-D634CAC2B95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384631" y="370681"/>
            <a:ext cx="1235869" cy="38417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>
            <a:lvl1pPr>
              <a:defRPr sz="100">
                <a:solidFill>
                  <a:srgbClr val="FF0000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28775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ennfolie, grün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4D1DB053-584E-4FB2-B7EE-CB243EB4391C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6" name="Textplatzhalter 8">
            <a:extLst>
              <a:ext uri="{FF2B5EF4-FFF2-40B4-BE49-F238E27FC236}">
                <a16:creationId xmlns:a16="http://schemas.microsoft.com/office/drawing/2014/main" id="{FACED8F1-CEDB-49EC-9643-01108A5E3B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44442" y="1864800"/>
            <a:ext cx="3506375" cy="70055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1.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594F19F-DBAC-410C-952B-29CA1F372D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147" y="2565353"/>
            <a:ext cx="8359939" cy="2954655"/>
          </a:xfrm>
        </p:spPr>
        <p:txBody>
          <a:bodyPr anchor="t"/>
          <a:lstStyle>
            <a:lvl1pPr>
              <a:lnSpc>
                <a:spcPct val="85000"/>
              </a:lnSpc>
              <a:defRPr sz="4800">
                <a:solidFill>
                  <a:srgbClr val="50EB5D"/>
                </a:solidFill>
              </a:defRPr>
            </a:lvl1pPr>
          </a:lstStyle>
          <a:p>
            <a:r>
              <a:rPr lang="de-DE" dirty="0" err="1"/>
              <a:t>Kapiteltrenner</a:t>
            </a:r>
            <a:endParaRPr lang="de-DE" dirty="0"/>
          </a:p>
        </p:txBody>
      </p:sp>
      <p:sp>
        <p:nvSpPr>
          <p:cNvPr id="7" name="Textplatzhalter 4">
            <a:extLst>
              <a:ext uri="{FF2B5EF4-FFF2-40B4-BE49-F238E27FC236}">
                <a16:creationId xmlns:a16="http://schemas.microsoft.com/office/drawing/2014/main" id="{CB4B718F-50D1-488F-B836-0478D8E444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378848" y="372208"/>
            <a:ext cx="1244510" cy="384821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3437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ennfolie, weiß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8">
            <a:extLst>
              <a:ext uri="{FF2B5EF4-FFF2-40B4-BE49-F238E27FC236}">
                <a16:creationId xmlns:a16="http://schemas.microsoft.com/office/drawing/2014/main" id="{12C76DED-8CDE-4257-8430-7853A465D7E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108" y="1864800"/>
            <a:ext cx="3506375" cy="70055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8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1.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454DA53-6857-4927-9C7E-C7350EFBDF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813" y="2565353"/>
            <a:ext cx="8359939" cy="2954655"/>
          </a:xfrm>
        </p:spPr>
        <p:txBody>
          <a:bodyPr anchor="t"/>
          <a:lstStyle>
            <a:lvl1pPr>
              <a:lnSpc>
                <a:spcPct val="85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de-DE" dirty="0" err="1"/>
              <a:t>Kapiteltrenner</a:t>
            </a:r>
            <a:endParaRPr lang="de-DE" dirty="0"/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AB8CBCBB-3C22-40AF-93E0-0E02BC1A723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384631" y="370681"/>
            <a:ext cx="1235869" cy="38417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>
            <a:lvl1pPr>
              <a:defRPr sz="100">
                <a:solidFill>
                  <a:srgbClr val="FF0000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571338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ennfolie, großes Bil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31C813A-28B1-41D5-9A02-75841D6708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8D2DE6C8-6E8E-401E-BAA5-A15206F6524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79476" y="1864800"/>
            <a:ext cx="5042613" cy="69084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8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1.</a:t>
            </a:r>
          </a:p>
        </p:txBody>
      </p:sp>
      <p:sp>
        <p:nvSpPr>
          <p:cNvPr id="6" name="Textplatzhalter 3">
            <a:extLst>
              <a:ext uri="{FF2B5EF4-FFF2-40B4-BE49-F238E27FC236}">
                <a16:creationId xmlns:a16="http://schemas.microsoft.com/office/drawing/2014/main" id="{84078108-2B01-4ECF-B0D1-5D187D4CF15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384631" y="370681"/>
            <a:ext cx="1235869" cy="38417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>
            <a:lvl1pPr>
              <a:defRPr sz="100">
                <a:solidFill>
                  <a:srgbClr val="FF0000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5328135-CC96-4D0F-84A2-560A1267CE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79475" y="2555645"/>
            <a:ext cx="5042614" cy="3149195"/>
          </a:xfrm>
        </p:spPr>
        <p:txBody>
          <a:bodyPr anchor="t"/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de-DE" dirty="0" err="1"/>
              <a:t>Kapiteltrenner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7735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44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Untertitel, Inhalt gro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0CC662-007D-49AA-B1B3-A4353A321A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1813" y="6488019"/>
            <a:ext cx="680398" cy="154081"/>
          </a:xfrm>
        </p:spPr>
        <p:txBody>
          <a:bodyPr/>
          <a:lstStyle/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7DCF29E-20BD-4236-9E8B-E9CA25F01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79420E3-CAFC-4934-AF5A-B29B136A9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0C8BD9AA-4F7F-4866-9C5F-3D171AB3086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1813" y="1781174"/>
            <a:ext cx="10080000" cy="4253865"/>
          </a:xfrm>
        </p:spPr>
        <p:txBody>
          <a:bodyPr/>
          <a:lstStyle>
            <a:lvl1pPr>
              <a:spcBef>
                <a:spcPts val="0"/>
              </a:spcBef>
              <a:spcAft>
                <a:spcPts val="400"/>
              </a:spcAft>
              <a:defRPr/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/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/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defRPr/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C6206876-2874-465A-B06B-FB81D809FF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1813" y="1141200"/>
            <a:ext cx="10080000" cy="378000"/>
          </a:xfrm>
        </p:spPr>
        <p:txBody>
          <a:bodyPr>
            <a:noAutofit/>
          </a:bodyPr>
          <a:lstStyle>
            <a:lvl1pPr>
              <a:defRPr sz="23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6321C79-7D6E-4AFD-9783-7306A6DEDA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Folientitel</a:t>
            </a:r>
          </a:p>
        </p:txBody>
      </p:sp>
    </p:spTree>
    <p:extLst>
      <p:ext uri="{BB962C8B-B14F-4D97-AF65-F5344CB8AC3E}">
        <p14:creationId xmlns:p14="http://schemas.microsoft.com/office/powerpoint/2010/main" val="15376375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5" userDrawn="1">
          <p15:clr>
            <a:srgbClr val="FBAE40"/>
          </p15:clr>
        </p15:guide>
        <p15:guide id="2" pos="6684" userDrawn="1">
          <p15:clr>
            <a:srgbClr val="FBAE40"/>
          </p15:clr>
        </p15:guide>
        <p15:guide id="3" orient="horz" pos="4186" userDrawn="1">
          <p15:clr>
            <a:srgbClr val="FBAE40"/>
          </p15:clr>
        </p15:guide>
        <p15:guide id="4" orient="horz" pos="112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vier Untertitel, vier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3A7EE50-4DC3-4A06-82B7-ADD819B8B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48E2E90-2EE6-4F5C-8BAE-1CB8C0102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42CA8DA-4F14-4408-9C74-852167769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970E1B53-3F2D-452D-9A86-A1F79C07559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34194" y="2212068"/>
            <a:ext cx="5364000" cy="1440000"/>
          </a:xfrm>
        </p:spPr>
        <p:txBody>
          <a:bodyPr lIns="108000" tIns="144000" rIns="10800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144E4C8-FB14-47EB-BF80-40E96E120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Folientitel</a:t>
            </a:r>
          </a:p>
        </p:txBody>
      </p:sp>
      <p:sp>
        <p:nvSpPr>
          <p:cNvPr id="10" name="Inhaltsplatzhalter 11">
            <a:extLst>
              <a:ext uri="{FF2B5EF4-FFF2-40B4-BE49-F238E27FC236}">
                <a16:creationId xmlns:a16="http://schemas.microsoft.com/office/drawing/2014/main" id="{229779A9-DC1E-5445-A3DD-6FF44511FBB6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34194" y="1780068"/>
            <a:ext cx="5364000" cy="432000"/>
          </a:xfrm>
          <a:solidFill>
            <a:schemeClr val="bg2"/>
          </a:solidFill>
        </p:spPr>
        <p:txBody>
          <a:bodyPr lIns="108000" tIns="72000" rIns="108000" bIns="72000"/>
          <a:lstStyle>
            <a:lvl1pPr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1" name="Inhaltsplatzhalter 11">
            <a:extLst>
              <a:ext uri="{FF2B5EF4-FFF2-40B4-BE49-F238E27FC236}">
                <a16:creationId xmlns:a16="http://schemas.microsoft.com/office/drawing/2014/main" id="{FDB32CE9-56CA-7042-8AD0-6D1E638EFB89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34194" y="4592091"/>
            <a:ext cx="5364000" cy="1440000"/>
          </a:xfrm>
        </p:spPr>
        <p:txBody>
          <a:bodyPr lIns="108000" tIns="144000" rIns="10800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14" name="Inhaltsplatzhalter 11">
            <a:extLst>
              <a:ext uri="{FF2B5EF4-FFF2-40B4-BE49-F238E27FC236}">
                <a16:creationId xmlns:a16="http://schemas.microsoft.com/office/drawing/2014/main" id="{6E09E056-EFE2-7F4A-AA44-78803AC166E9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34194" y="4160091"/>
            <a:ext cx="5364000" cy="432000"/>
          </a:xfrm>
          <a:solidFill>
            <a:schemeClr val="bg2"/>
          </a:solidFill>
        </p:spPr>
        <p:txBody>
          <a:bodyPr lIns="108000" tIns="72000" rIns="108000" bIns="72000"/>
          <a:lstStyle>
            <a:lvl1pPr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535A4A83-695C-3F48-8F36-FE76679C0BF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259264" y="2212068"/>
            <a:ext cx="5364000" cy="1440000"/>
          </a:xfrm>
        </p:spPr>
        <p:txBody>
          <a:bodyPr lIns="108000" tIns="144000" rIns="10800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16" name="Inhaltsplatzhalter 11">
            <a:extLst>
              <a:ext uri="{FF2B5EF4-FFF2-40B4-BE49-F238E27FC236}">
                <a16:creationId xmlns:a16="http://schemas.microsoft.com/office/drawing/2014/main" id="{528CBD0B-4546-4448-B03A-7041BE95FAE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259264" y="1780068"/>
            <a:ext cx="5364000" cy="432000"/>
          </a:xfrm>
          <a:solidFill>
            <a:schemeClr val="bg2"/>
          </a:solidFill>
        </p:spPr>
        <p:txBody>
          <a:bodyPr lIns="108000" tIns="72000" rIns="108000" bIns="72000"/>
          <a:lstStyle>
            <a:lvl1pPr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7" name="Inhaltsplatzhalter 11">
            <a:extLst>
              <a:ext uri="{FF2B5EF4-FFF2-40B4-BE49-F238E27FC236}">
                <a16:creationId xmlns:a16="http://schemas.microsoft.com/office/drawing/2014/main" id="{624AA3E7-DD69-1944-B297-C94D2F89C39E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259264" y="4592091"/>
            <a:ext cx="5364000" cy="1440000"/>
          </a:xfrm>
        </p:spPr>
        <p:txBody>
          <a:bodyPr lIns="108000" tIns="144000" rIns="10800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18" name="Inhaltsplatzhalter 11">
            <a:extLst>
              <a:ext uri="{FF2B5EF4-FFF2-40B4-BE49-F238E27FC236}">
                <a16:creationId xmlns:a16="http://schemas.microsoft.com/office/drawing/2014/main" id="{2B3F99B9-79CE-7449-8A1E-63A020015C6A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259264" y="4160091"/>
            <a:ext cx="5364000" cy="432000"/>
          </a:xfrm>
          <a:solidFill>
            <a:schemeClr val="bg2"/>
          </a:solidFill>
        </p:spPr>
        <p:txBody>
          <a:bodyPr lIns="108000" tIns="72000" rIns="108000" bIns="72000"/>
          <a:lstStyle>
            <a:lvl1pPr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9" name="Textplatzhalter 6">
            <a:extLst>
              <a:ext uri="{FF2B5EF4-FFF2-40B4-BE49-F238E27FC236}">
                <a16:creationId xmlns:a16="http://schemas.microsoft.com/office/drawing/2014/main" id="{AE29161E-9A0C-4F57-AA18-982C0E3D9D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1813" y="1141200"/>
            <a:ext cx="10080000" cy="378000"/>
          </a:xfrm>
        </p:spPr>
        <p:txBody>
          <a:bodyPr>
            <a:noAutofit/>
          </a:bodyPr>
          <a:lstStyle>
            <a:lvl1pPr>
              <a:defRPr sz="23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14484901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4" userDrawn="1">
          <p15:clr>
            <a:srgbClr val="FBAE40"/>
          </p15:clr>
        </p15:guide>
        <p15:guide id="2" orient="horz" pos="4186" userDrawn="1">
          <p15:clr>
            <a:srgbClr val="FBAE40"/>
          </p15:clr>
        </p15:guide>
        <p15:guide id="3" orient="horz" pos="1119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Untertitel, Inhalt Bil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3A7EE50-4DC3-4A06-82B7-ADD819B8B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48E2E90-2EE6-4F5C-8BAE-1CB8C0102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42CA8DA-4F14-4408-9C74-852167769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A6465D2C-6D58-419D-A097-D037B21AABB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258999" y="1781175"/>
            <a:ext cx="5364000" cy="4248274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144E4C8-FB14-47EB-BF80-40E96E120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Folientitel</a:t>
            </a:r>
          </a:p>
        </p:txBody>
      </p:sp>
      <p:sp>
        <p:nvSpPr>
          <p:cNvPr id="11" name="Bildplatzhalter 17">
            <a:extLst>
              <a:ext uri="{FF2B5EF4-FFF2-40B4-BE49-F238E27FC236}">
                <a16:creationId xmlns:a16="http://schemas.microsoft.com/office/drawing/2014/main" id="{DD44F5B9-9BA4-3A44-99F9-BCF8F52EB4B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32818" y="1781174"/>
            <a:ext cx="5364000" cy="4249493"/>
          </a:xfrm>
          <a:noFill/>
          <a:ln>
            <a:noFill/>
          </a:ln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B7789445-E09E-42A1-8171-3D5FF2DFBFF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1813" y="1141200"/>
            <a:ext cx="10080000" cy="378000"/>
          </a:xfrm>
        </p:spPr>
        <p:txBody>
          <a:bodyPr>
            <a:noAutofit/>
          </a:bodyPr>
          <a:lstStyle>
            <a:lvl1pPr>
              <a:defRPr sz="23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1846201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5" userDrawn="1">
          <p15:clr>
            <a:srgbClr val="FBAE40"/>
          </p15:clr>
        </p15:guide>
        <p15:guide id="2" pos="3942" userDrawn="1">
          <p15:clr>
            <a:srgbClr val="FBAE40"/>
          </p15:clr>
        </p15:guide>
        <p15:guide id="3" pos="3716" userDrawn="1">
          <p15:clr>
            <a:srgbClr val="FBAE40"/>
          </p15:clr>
        </p15:guide>
        <p15:guide id="4" orient="horz" pos="1117" userDrawn="1">
          <p15:clr>
            <a:srgbClr val="FBAE40"/>
          </p15:clr>
        </p15:guide>
        <p15:guide id="5" orient="horz" pos="4186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Untertitel, Inhalt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3A7EE50-4DC3-4A06-82B7-ADD819B8B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48E2E90-2EE6-4F5C-8BAE-1CB8C0102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42CA8DA-4F14-4408-9C74-852167769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A6465D2C-6D58-419D-A097-D037B21AABB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34051" y="1781175"/>
            <a:ext cx="5364000" cy="4249980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144E4C8-FB14-47EB-BF80-40E96E120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Folientitel</a:t>
            </a:r>
          </a:p>
        </p:txBody>
      </p:sp>
      <p:sp>
        <p:nvSpPr>
          <p:cNvPr id="11" name="Bildplatzhalter 17">
            <a:extLst>
              <a:ext uri="{FF2B5EF4-FFF2-40B4-BE49-F238E27FC236}">
                <a16:creationId xmlns:a16="http://schemas.microsoft.com/office/drawing/2014/main" id="{DD44F5B9-9BA4-3A44-99F9-BCF8F52EB4B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58035" y="1781174"/>
            <a:ext cx="5364000" cy="4252425"/>
          </a:xfrm>
          <a:noFill/>
          <a:ln>
            <a:noFill/>
          </a:ln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E9B1A45E-A52E-4489-A51D-DF14AB2731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1813" y="1141200"/>
            <a:ext cx="10080000" cy="378000"/>
          </a:xfrm>
        </p:spPr>
        <p:txBody>
          <a:bodyPr>
            <a:noAutofit/>
          </a:bodyPr>
          <a:lstStyle>
            <a:lvl1pPr>
              <a:defRPr sz="23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169372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5" userDrawn="1">
          <p15:clr>
            <a:srgbClr val="FBAE40"/>
          </p15:clr>
        </p15:guide>
        <p15:guide id="2" orient="horz" pos="1122" userDrawn="1">
          <p15:clr>
            <a:srgbClr val="FBAE40"/>
          </p15:clr>
        </p15:guide>
        <p15:guide id="3" pos="3942" userDrawn="1">
          <p15:clr>
            <a:srgbClr val="FBAE40"/>
          </p15:clr>
        </p15:guide>
        <p15:guide id="4" pos="3716" userDrawn="1">
          <p15:clr>
            <a:srgbClr val="FBAE40"/>
          </p15:clr>
        </p15:guide>
        <p15:guide id="5" orient="horz" pos="4186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Untertitel,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3A7EE50-4DC3-4A06-82B7-ADD819B8B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48E2E90-2EE6-4F5C-8BAE-1CB8C0102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42CA8DA-4F14-4408-9C74-852167769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970E1B53-3F2D-452D-9A86-A1F79C07559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34133" y="1782000"/>
            <a:ext cx="5364000" cy="4252850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A6465D2C-6D58-419D-A097-D037B21AABB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258076" y="1782000"/>
            <a:ext cx="5364000" cy="4254012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144E4C8-FB14-47EB-BF80-40E96E120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Folientitel</a:t>
            </a:r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E7FD7125-0A02-41A3-802C-4C604E5AC0F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1813" y="1137600"/>
            <a:ext cx="10080000" cy="378000"/>
          </a:xfrm>
        </p:spPr>
        <p:txBody>
          <a:bodyPr>
            <a:noAutofit/>
          </a:bodyPr>
          <a:lstStyle>
            <a:lvl1pPr>
              <a:defRPr sz="23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15087099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21" userDrawn="1">
          <p15:clr>
            <a:srgbClr val="FBAE40"/>
          </p15:clr>
        </p15:guide>
        <p15:guide id="2" pos="3941" userDrawn="1">
          <p15:clr>
            <a:srgbClr val="FBAE40"/>
          </p15:clr>
        </p15:guide>
        <p15:guide id="3" pos="3716" userDrawn="1">
          <p15:clr>
            <a:srgbClr val="FBAE40"/>
          </p15:clr>
        </p15:guide>
        <p15:guide id="4" orient="horz" pos="4186" userDrawn="1">
          <p15:clr>
            <a:srgbClr val="FBAE40"/>
          </p15:clr>
        </p15:guide>
        <p15:guide id="5" orient="horz" pos="724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Untertitel, dr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3DE711A-E492-44A3-B876-C5D79CE06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DEFBB51-6294-4969-863C-CCC72A72B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69DB5D9-E6AA-4167-B0BB-01756BBD5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A935A2A9-CF1D-4FAD-8AE9-B477204726A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34193" y="1782000"/>
            <a:ext cx="3456000" cy="425290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5" name="Inhaltsplatzhalter 13">
            <a:extLst>
              <a:ext uri="{FF2B5EF4-FFF2-40B4-BE49-F238E27FC236}">
                <a16:creationId xmlns:a16="http://schemas.microsoft.com/office/drawing/2014/main" id="{82D6E46D-AF11-4261-B8B5-3CFAB01684A8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349975" y="1782000"/>
            <a:ext cx="3456000" cy="4251712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6" name="Inhaltsplatzhalter 13">
            <a:extLst>
              <a:ext uri="{FF2B5EF4-FFF2-40B4-BE49-F238E27FC236}">
                <a16:creationId xmlns:a16="http://schemas.microsoft.com/office/drawing/2014/main" id="{FB6C8960-A71A-4DEE-B920-42BBAE59C2F4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8165758" y="1782000"/>
            <a:ext cx="3456000" cy="4248124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F86FD8C-D98F-44E7-B78B-E7BBE57874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Folientitel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DFAA0B77-ED09-4A38-A48D-01844CCA4E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1813" y="1141200"/>
            <a:ext cx="10080000" cy="378000"/>
          </a:xfrm>
        </p:spPr>
        <p:txBody>
          <a:bodyPr>
            <a:noAutofit/>
          </a:bodyPr>
          <a:lstStyle>
            <a:lvl1pPr>
              <a:defRPr sz="23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222025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4" userDrawn="1">
          <p15:clr>
            <a:srgbClr val="FBAE40"/>
          </p15:clr>
        </p15:guide>
        <p15:guide id="2" orient="horz" pos="1121" userDrawn="1">
          <p15:clr>
            <a:srgbClr val="FBAE40"/>
          </p15:clr>
        </p15:guide>
        <p15:guide id="3" pos="5142" userDrawn="1">
          <p15:clr>
            <a:srgbClr val="FBAE40"/>
          </p15:clr>
        </p15:guide>
        <p15:guide id="4" pos="4919" userDrawn="1">
          <p15:clr>
            <a:srgbClr val="FBAE40"/>
          </p15:clr>
        </p15:guide>
        <p15:guide id="5" pos="2739" userDrawn="1">
          <p15:clr>
            <a:srgbClr val="FBAE40"/>
          </p15:clr>
        </p15:guide>
        <p15:guide id="6" pos="2512" userDrawn="1">
          <p15:clr>
            <a:srgbClr val="FBAE40"/>
          </p15:clr>
        </p15:guide>
        <p15:guide id="7" orient="horz" pos="4185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großes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CA447AF3-9112-4E80-95D6-DA3EF951DC3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569026"/>
            <a:ext cx="12192000" cy="5292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716AB96-3FFB-4390-B84E-B778A7B5E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75ADA85-1D7A-4978-A3BE-52C9BBFE2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65D6FB5-FBAE-4505-B5ED-E456FBC72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AF86186-02C4-41B3-9E32-C6D994D5DF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Folientitel</a:t>
            </a:r>
          </a:p>
        </p:txBody>
      </p:sp>
    </p:spTree>
    <p:extLst>
      <p:ext uri="{BB962C8B-B14F-4D97-AF65-F5344CB8AC3E}">
        <p14:creationId xmlns:p14="http://schemas.microsoft.com/office/powerpoint/2010/main" val="3032573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5" userDrawn="1">
          <p15:clr>
            <a:srgbClr val="FBAE40"/>
          </p15:clr>
        </p15:guide>
        <p15:guide id="2" orient="horz" pos="984" userDrawn="1">
          <p15:clr>
            <a:srgbClr val="FBAE40"/>
          </p15:clr>
        </p15:guide>
        <p15:guide id="3" orient="horz" pos="4186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ollflächiges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DB35BDF-2357-4FB8-A393-44667C24A7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13A53BF-3872-4CB9-A3C4-529D763542B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AEDF33C-AD69-4F63-80C6-29038ACF9FB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BEF126A4-070B-48AA-980B-329F721F879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0A3D55C-C62B-482B-97A7-67402F68510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253283" y="368300"/>
            <a:ext cx="374852" cy="384463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39780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6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Zitat,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DB35BDF-2357-4FB8-A393-44667C24A7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34000" y="0"/>
            <a:ext cx="5058000" cy="68580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5DB306D6-6C8C-46C6-ADFA-B6135A3744E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216989BC-3B1F-4E4B-82D3-8DA7D78223E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2599892-D0A5-4D8F-92D6-5A86DA10324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3C55D1A-ECC3-4551-946B-244B72D2063F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31813" y="1765300"/>
            <a:ext cx="6045175" cy="3326245"/>
          </a:xfrm>
        </p:spPr>
        <p:txBody>
          <a:bodyPr/>
          <a:lstStyle>
            <a:lvl1pPr>
              <a:defRPr sz="3600" i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C0F6BCA-78EF-4C33-AD3D-7CA36F6D8D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1813" y="5358041"/>
            <a:ext cx="2917825" cy="221343"/>
          </a:xfrm>
        </p:spPr>
        <p:txBody>
          <a:bodyPr>
            <a:spAutoFit/>
          </a:bodyPr>
          <a:lstStyle>
            <a:lvl1pPr>
              <a:defRPr sz="1400"/>
            </a:lvl1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A14A801C-500F-42F7-9810-30F4CE0437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253283" y="368300"/>
            <a:ext cx="374852" cy="384463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5099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493" userDrawn="1">
          <p15:clr>
            <a:srgbClr val="FBAE40"/>
          </p15:clr>
        </p15:guide>
        <p15:guide id="2" pos="4143" userDrawn="1">
          <p15:clr>
            <a:srgbClr val="FBAE40"/>
          </p15:clr>
        </p15:guide>
        <p15:guide id="3" orient="horz" pos="4186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, Bil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DB35BDF-2357-4FB8-A393-44667C24A7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2526" y="0"/>
            <a:ext cx="5058000" cy="6857999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C7A7DB9-9344-47DF-82CA-03627EA87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27F6EE4-D042-47D0-B7EB-F9AB05F4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0F6986B-6172-483A-9DBB-D670814AC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D66992B-70FA-4EF3-B91E-D5D88861073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86663" y="1765300"/>
            <a:ext cx="6037463" cy="3326400"/>
          </a:xfrm>
        </p:spPr>
        <p:txBody>
          <a:bodyPr/>
          <a:lstStyle>
            <a:lvl1pPr>
              <a:defRPr sz="3600" i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15BD8298-60AC-4090-BB3E-F0693CA3587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86663" y="5316477"/>
            <a:ext cx="2917825" cy="221343"/>
          </a:xfrm>
        </p:spPr>
        <p:txBody>
          <a:bodyPr>
            <a:spAutoFit/>
          </a:bodyPr>
          <a:lstStyle>
            <a:lvl1pPr algn="l">
              <a:defRPr sz="1400"/>
            </a:lvl1pPr>
          </a:lstStyle>
          <a:p>
            <a:pPr lvl="0"/>
            <a:r>
              <a:rPr lang="de-DE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5428203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9" userDrawn="1">
          <p15:clr>
            <a:srgbClr val="FBAE40"/>
          </p15:clr>
        </p15:guide>
        <p15:guide id="2" pos="3518" userDrawn="1">
          <p15:clr>
            <a:srgbClr val="FBAE40"/>
          </p15:clr>
        </p15:guide>
        <p15:guide id="3" orient="horz" pos="4186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Zitat, grüner Hintergrund,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4CBB0185-ED22-4EAE-8E99-E8F83FE5279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134000" y="0"/>
            <a:ext cx="5058000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83D2220-C26F-4F41-A0A8-E65A1B65335C}"/>
              </a:ext>
            </a:extLst>
          </p:cNvPr>
          <p:cNvSpPr/>
          <p:nvPr/>
        </p:nvSpPr>
        <p:spPr>
          <a:xfrm>
            <a:off x="0" y="0"/>
            <a:ext cx="7134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C7A7DB9-9344-47DF-82CA-03627EA877EE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27F6EE4-D042-47D0-B7EB-F9AB05F4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0F6986B-6172-483A-9DBB-D670814AC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4854FFF-8A75-42B3-A417-E69777D4047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536303" y="1765300"/>
            <a:ext cx="6047898" cy="3326400"/>
          </a:xfrm>
        </p:spPr>
        <p:txBody>
          <a:bodyPr/>
          <a:lstStyle>
            <a:lvl1pPr>
              <a:defRPr sz="3600" i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12" name="Textplatzhalter 3">
            <a:extLst>
              <a:ext uri="{FF2B5EF4-FFF2-40B4-BE49-F238E27FC236}">
                <a16:creationId xmlns:a16="http://schemas.microsoft.com/office/drawing/2014/main" id="{F522F79E-E991-49B2-8A10-443CEB5FCBE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white">
          <a:xfrm>
            <a:off x="536303" y="5358041"/>
            <a:ext cx="2917825" cy="221343"/>
          </a:xfrm>
        </p:spPr>
        <p:txBody>
          <a:bodyPr>
            <a:spAutoFit/>
          </a:bodyPr>
          <a:lstStyle>
            <a:lvl1pPr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Name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986CDE91-7CD1-48F1-A154-CF50CE8A01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36333" y="371547"/>
            <a:ext cx="384463" cy="38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384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3" userDrawn="1">
          <p15:clr>
            <a:srgbClr val="FBAE40"/>
          </p15:clr>
        </p15:guide>
        <p15:guide id="2" pos="4494" userDrawn="1">
          <p15:clr>
            <a:srgbClr val="FBAE40"/>
          </p15:clr>
        </p15:guide>
        <p15:guide id="3" orient="horz" pos="4186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Zitat, grüner Hintergrund, Bil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2FE21C4A-6006-4EB9-99FE-F2453268507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5036847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3051BA91-193A-45F4-BF0B-0BA68E2079F4}"/>
              </a:ext>
            </a:extLst>
          </p:cNvPr>
          <p:cNvSpPr/>
          <p:nvPr/>
        </p:nvSpPr>
        <p:spPr>
          <a:xfrm>
            <a:off x="5036847" y="0"/>
            <a:ext cx="7155153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4854FFF-8A75-42B3-A417-E69777D4047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5576847" y="1765300"/>
            <a:ext cx="6045885" cy="3326400"/>
          </a:xfrm>
        </p:spPr>
        <p:txBody>
          <a:bodyPr/>
          <a:lstStyle>
            <a:lvl1pPr>
              <a:defRPr sz="3600" i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F22C23B5-2DDF-47F1-92F4-1CF64FA2FC6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EC4DFC41-8F66-442B-833A-2E8930BC734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6C57FFC7-3163-4AC3-8DA0-DE41D2D44FA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Textplatzhalter 3">
            <a:extLst>
              <a:ext uri="{FF2B5EF4-FFF2-40B4-BE49-F238E27FC236}">
                <a16:creationId xmlns:a16="http://schemas.microsoft.com/office/drawing/2014/main" id="{FDEAD942-1AC6-449D-BADE-4706E9D0A88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white">
          <a:xfrm>
            <a:off x="5576847" y="5358041"/>
            <a:ext cx="2917825" cy="221343"/>
          </a:xfrm>
        </p:spPr>
        <p:txBody>
          <a:bodyPr>
            <a:spAutoFit/>
          </a:bodyPr>
          <a:lstStyle>
            <a:lvl1pPr algn="l"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E09A390A-114A-4B46-AF1F-983FF1801C2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253283" y="368300"/>
            <a:ext cx="374852" cy="384463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24090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10" userDrawn="1">
          <p15:clr>
            <a:srgbClr val="FBAE40"/>
          </p15:clr>
        </p15:guide>
        <p15:guide id="2" pos="3172" userDrawn="1">
          <p15:clr>
            <a:srgbClr val="FBAE40"/>
          </p15:clr>
        </p15:guide>
        <p15:guide id="3" orient="horz" pos="4186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Zitat, grün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347D8848-3EC9-4190-BA71-7CDD1E9923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 dirty="0" err="1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4854FFF-8A75-42B3-A417-E69777D4047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79605" y="1765300"/>
            <a:ext cx="8280000" cy="3240000"/>
          </a:xfrm>
        </p:spPr>
        <p:txBody>
          <a:bodyPr/>
          <a:lstStyle>
            <a:lvl1pPr>
              <a:defRPr sz="3600" i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Zitat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 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F22C23B5-2DDF-47F1-92F4-1CF64FA2FC6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EC4DFC41-8F66-442B-833A-2E8930BC734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234211" y="6488019"/>
            <a:ext cx="4771400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6C57FFC7-3163-4AC3-8DA0-DE41D2D44FA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Textplatzhalter 3">
            <a:extLst>
              <a:ext uri="{FF2B5EF4-FFF2-40B4-BE49-F238E27FC236}">
                <a16:creationId xmlns:a16="http://schemas.microsoft.com/office/drawing/2014/main" id="{FDEAD942-1AC6-449D-BADE-4706E9D0A88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79606" y="5144033"/>
            <a:ext cx="2917825" cy="221343"/>
          </a:xfrm>
        </p:spPr>
        <p:txBody>
          <a:bodyPr>
            <a:spAutoFit/>
          </a:bodyPr>
          <a:lstStyle>
            <a:lvl1pPr algn="l"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4940AC85-9919-4AC8-8C27-F1D4944D7E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253283" y="368300"/>
            <a:ext cx="374852" cy="384463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35406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04" userDrawn="1">
          <p15:clr>
            <a:srgbClr val="FBAE40"/>
          </p15:clr>
        </p15:guide>
        <p15:guide id="2" pos="6023" userDrawn="1">
          <p15:clr>
            <a:srgbClr val="FBAE40"/>
          </p15:clr>
        </p15:guide>
        <p15:guide id="3" orient="horz" pos="4186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, weiß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C7A7DB9-9344-47DF-82CA-03627EA87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27F6EE4-D042-47D0-B7EB-F9AB05F4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0F6986B-6172-483A-9DBB-D670814AC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D66992B-70FA-4EF3-B91E-D5D888610732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605" y="1765300"/>
            <a:ext cx="8280000" cy="3276000"/>
          </a:xfrm>
        </p:spPr>
        <p:txBody>
          <a:bodyPr/>
          <a:lstStyle>
            <a:lvl1pPr>
              <a:defRPr sz="4800" i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15BD8298-60AC-4090-BB3E-F0693CA3587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79606" y="5144033"/>
            <a:ext cx="2917825" cy="221343"/>
          </a:xfrm>
        </p:spPr>
        <p:txBody>
          <a:bodyPr>
            <a:spAutoFit/>
          </a:bodyPr>
          <a:lstStyle>
            <a:lvl1pPr algn="l">
              <a:defRPr sz="1400"/>
            </a:lvl1pPr>
          </a:lstStyle>
          <a:p>
            <a:pPr lvl="0"/>
            <a:r>
              <a:rPr lang="de-DE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36856480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04" userDrawn="1">
          <p15:clr>
            <a:srgbClr val="FBAE40"/>
          </p15:clr>
        </p15:guide>
        <p15:guide id="2" pos="6028" userDrawn="1">
          <p15:clr>
            <a:srgbClr val="FBAE40"/>
          </p15:clr>
        </p15:guide>
        <p15:guide id="3" orient="horz" pos="4186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Zitat auf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7">
            <a:extLst>
              <a:ext uri="{FF2B5EF4-FFF2-40B4-BE49-F238E27FC236}">
                <a16:creationId xmlns:a16="http://schemas.microsoft.com/office/drawing/2014/main" id="{F1729221-9FD5-434A-8F23-C2054A7AE9E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C7A7DB9-9344-47DF-82CA-03627EA877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6101" y="6488021"/>
            <a:ext cx="680399" cy="15408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27F6EE4-D042-47D0-B7EB-F9AB05F4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0F6986B-6172-483A-9DBB-D670814AC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D66992B-70FA-4EF3-B91E-D5D888610732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31813" y="1765300"/>
            <a:ext cx="5473798" cy="3276000"/>
          </a:xfrm>
        </p:spPr>
        <p:txBody>
          <a:bodyPr/>
          <a:lstStyle>
            <a:lvl1pPr>
              <a:defRPr sz="2800" i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99E3C022-5929-4C86-A586-8A45A212B88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1813" y="5186565"/>
            <a:ext cx="2917825" cy="221343"/>
          </a:xfrm>
        </p:spPr>
        <p:txBody>
          <a:bodyPr>
            <a:spAutoFit/>
          </a:bodyPr>
          <a:lstStyle>
            <a:lvl1pPr algn="l">
              <a:defRPr sz="1400"/>
            </a:lvl1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2F2CB60C-30E2-4D66-9D24-A24AA3AA3F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253283" y="368300"/>
            <a:ext cx="374852" cy="384463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196050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84" userDrawn="1">
          <p15:clr>
            <a:srgbClr val="FBAE40"/>
          </p15:clr>
        </p15:guide>
        <p15:guide id="2" orient="horz" pos="4186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716AB96-3FFB-4390-B84E-B778A7B5E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75ADA85-1D7A-4978-A3BE-52C9BBFE2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65D6FB5-FBAE-4505-B5ED-E456FBC72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A839CC71-5A66-4024-AF53-356CCFD1EF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Folientitel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CD367723-C19E-4A48-8B07-20D0DB5CB1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1813" y="1141200"/>
            <a:ext cx="10080000" cy="378000"/>
          </a:xfrm>
        </p:spPr>
        <p:txBody>
          <a:bodyPr>
            <a:noAutofit/>
          </a:bodyPr>
          <a:lstStyle>
            <a:lvl1pPr>
              <a:defRPr sz="23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4233856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5" userDrawn="1">
          <p15:clr>
            <a:srgbClr val="FBAE40"/>
          </p15:clr>
        </p15:guide>
        <p15:guide id="2" orient="horz" pos="4186" userDrawn="1">
          <p15:clr>
            <a:srgbClr val="FBAE40"/>
          </p15:clr>
        </p15:guide>
        <p15:guide id="3" orient="horz" pos="1121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Untertitel, drei Inhalte +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F770FE-DF98-4121-AF3E-53C54675F6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Folientitel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0AF40B6-2AA0-417C-BE3A-982F8796F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72AA9C6-39E3-425E-A4CB-9451D6E19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C3DBF1A-3A75-4EDE-BD7E-552C5DA04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82FE610F-9097-4239-8F6D-4E1D6613AF7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32845" y="4010890"/>
            <a:ext cx="3451599" cy="2021609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4" name="Textplatzhalter 12">
            <a:extLst>
              <a:ext uri="{FF2B5EF4-FFF2-40B4-BE49-F238E27FC236}">
                <a16:creationId xmlns:a16="http://schemas.microsoft.com/office/drawing/2014/main" id="{1988443F-2C70-431D-95AE-B5C6B856BA2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2777" y="4010890"/>
            <a:ext cx="3451599" cy="2021609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3E6FE9ED-9A0D-45D7-A662-8C4EC1E5784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172286" y="4010890"/>
            <a:ext cx="3451387" cy="2021609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ABE610A8-10D9-4147-A6E5-BABA0B95A58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32845" y="1779588"/>
            <a:ext cx="3451387" cy="1800225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8" name="Bildplatzhalter 16">
            <a:extLst>
              <a:ext uri="{FF2B5EF4-FFF2-40B4-BE49-F238E27FC236}">
                <a16:creationId xmlns:a16="http://schemas.microsoft.com/office/drawing/2014/main" id="{4A4C875C-48EA-418B-BF7D-8DE3AB59F4F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72286" y="1779588"/>
            <a:ext cx="3451387" cy="1800225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9" name="Bildplatzhalter 16">
            <a:extLst>
              <a:ext uri="{FF2B5EF4-FFF2-40B4-BE49-F238E27FC236}">
                <a16:creationId xmlns:a16="http://schemas.microsoft.com/office/drawing/2014/main" id="{1143D483-3782-4F2D-8C24-3B38911302F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352565" y="1779588"/>
            <a:ext cx="3451387" cy="1800225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6F1E3E9C-BADC-4A6A-9D12-A6BA94B525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1813" y="1141200"/>
            <a:ext cx="10080000" cy="378000"/>
          </a:xfrm>
        </p:spPr>
        <p:txBody>
          <a:bodyPr>
            <a:noAutofit/>
          </a:bodyPr>
          <a:lstStyle>
            <a:lvl1pPr>
              <a:defRPr sz="23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2976906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4" userDrawn="1">
          <p15:clr>
            <a:srgbClr val="FBAE40"/>
          </p15:clr>
        </p15:guide>
        <p15:guide id="2" orient="horz" pos="1121" userDrawn="1">
          <p15:clr>
            <a:srgbClr val="FBAE40"/>
          </p15:clr>
        </p15:guide>
        <p15:guide id="3" orient="horz" pos="2257" userDrawn="1">
          <p15:clr>
            <a:srgbClr val="FBAE40"/>
          </p15:clr>
        </p15:guide>
        <p15:guide id="4" orient="horz" pos="2526" userDrawn="1">
          <p15:clr>
            <a:srgbClr val="FBAE40"/>
          </p15:clr>
        </p15:guide>
        <p15:guide id="5" pos="5145" userDrawn="1">
          <p15:clr>
            <a:srgbClr val="FBAE40"/>
          </p15:clr>
        </p15:guide>
        <p15:guide id="6" pos="4917" userDrawn="1">
          <p15:clr>
            <a:srgbClr val="FBAE40"/>
          </p15:clr>
        </p15:guide>
        <p15:guide id="7" pos="2741" userDrawn="1">
          <p15:clr>
            <a:srgbClr val="FBAE40"/>
          </p15:clr>
        </p15:guide>
        <p15:guide id="8" pos="2511" userDrawn="1">
          <p15:clr>
            <a:srgbClr val="FBAE40"/>
          </p15:clr>
        </p15:guide>
        <p15:guide id="9" orient="horz" pos="4186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Untertitel, zwei Inhalte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ildplatzhalter 16">
            <a:extLst>
              <a:ext uri="{FF2B5EF4-FFF2-40B4-BE49-F238E27FC236}">
                <a16:creationId xmlns:a16="http://schemas.microsoft.com/office/drawing/2014/main" id="{4A4C875C-48EA-418B-BF7D-8DE3AB59F4F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69439" y="1778000"/>
            <a:ext cx="3450374" cy="425212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82FE610F-9097-4239-8F6D-4E1D6613AF7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32913" y="1778000"/>
            <a:ext cx="3456000" cy="4252120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4" name="Textplatzhalter 12">
            <a:extLst>
              <a:ext uri="{FF2B5EF4-FFF2-40B4-BE49-F238E27FC236}">
                <a16:creationId xmlns:a16="http://schemas.microsoft.com/office/drawing/2014/main" id="{1988443F-2C70-431D-95AE-B5C6B856BA2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2924" y="1778000"/>
            <a:ext cx="3454251" cy="4252120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EF770FE-DF98-4121-AF3E-53C54675F6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Folientitel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0AF40B6-2AA0-417C-BE3A-982F8796F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72AA9C6-39E3-425E-A4CB-9451D6E19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C3DBF1A-3A75-4EDE-BD7E-552C5DA04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3B738EDE-AA7C-4D35-8A11-F946C2709B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1813" y="1141200"/>
            <a:ext cx="10080000" cy="378000"/>
          </a:xfrm>
        </p:spPr>
        <p:txBody>
          <a:bodyPr>
            <a:noAutofit/>
          </a:bodyPr>
          <a:lstStyle>
            <a:lvl1pPr>
              <a:defRPr sz="23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19136653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5" userDrawn="1">
          <p15:clr>
            <a:srgbClr val="FBAE40"/>
          </p15:clr>
        </p15:guide>
        <p15:guide id="2" orient="horz" pos="1120" userDrawn="1">
          <p15:clr>
            <a:srgbClr val="FBAE40"/>
          </p15:clr>
        </p15:guide>
        <p15:guide id="3" pos="5143" userDrawn="1">
          <p15:clr>
            <a:srgbClr val="FBAE40"/>
          </p15:clr>
        </p15:guide>
        <p15:guide id="4" pos="4920" userDrawn="1">
          <p15:clr>
            <a:srgbClr val="FBAE40"/>
          </p15:clr>
        </p15:guide>
        <p15:guide id="5" pos="2514" userDrawn="1">
          <p15:clr>
            <a:srgbClr val="FBAE40"/>
          </p15:clr>
        </p15:guide>
        <p15:guide id="6" pos="2742" userDrawn="1">
          <p15:clr>
            <a:srgbClr val="FBAE40"/>
          </p15:clr>
        </p15:guide>
        <p15:guide id="7" orient="horz" pos="4186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Inhalt links, zwei Bilder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716AB96-3FFB-4390-B84E-B778A7B5E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75ADA85-1D7A-4978-A3BE-52C9BBFE2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65D6FB5-FBAE-4505-B5ED-E456FBC72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5047A0B5-1D36-4CA6-A388-794661BAE1C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879587" y="1784985"/>
            <a:ext cx="3744000" cy="1889125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ECB22D53-C6FB-4838-8BFC-4CA32EF2DBF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77969" y="3915032"/>
            <a:ext cx="3744000" cy="1874883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50F3FE6-CA1A-430E-BAC8-DE134F31D30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3565" y="1782762"/>
            <a:ext cx="6696000" cy="4249737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F94E790-BDC5-48E5-942E-7B9F27EB0B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Folientitel</a:t>
            </a:r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E9194FFC-704E-4065-8766-8C02EFD3A5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1813" y="1141200"/>
            <a:ext cx="10080000" cy="378000"/>
          </a:xfrm>
        </p:spPr>
        <p:txBody>
          <a:bodyPr>
            <a:noAutofit/>
          </a:bodyPr>
          <a:lstStyle>
            <a:lvl1pPr>
              <a:defRPr sz="23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22006116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4" userDrawn="1">
          <p15:clr>
            <a:srgbClr val="FBAE40"/>
          </p15:clr>
        </p15:guide>
        <p15:guide id="2" pos="4556" userDrawn="1">
          <p15:clr>
            <a:srgbClr val="FBAE40"/>
          </p15:clr>
        </p15:guide>
        <p15:guide id="3" orient="horz" pos="1121" userDrawn="1">
          <p15:clr>
            <a:srgbClr val="FBAE40"/>
          </p15:clr>
        </p15:guide>
        <p15:guide id="4" pos="4962" userDrawn="1">
          <p15:clr>
            <a:srgbClr val="FBAE40"/>
          </p15:clr>
        </p15:guide>
        <p15:guide id="5" orient="horz" pos="2316" userDrawn="1">
          <p15:clr>
            <a:srgbClr val="FBAE40"/>
          </p15:clr>
        </p15:guide>
        <p15:guide id="6" orient="horz" pos="2465" userDrawn="1">
          <p15:clr>
            <a:srgbClr val="FBAE40"/>
          </p15:clr>
        </p15:guide>
        <p15:guide id="7" orient="horz" pos="3650" userDrawn="1">
          <p15:clr>
            <a:srgbClr val="FBAE40"/>
          </p15:clr>
        </p15:guide>
        <p15:guide id="8" orient="horz" pos="4186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, Inhalt, grüne Fläche mit Tex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DFFA6248-288A-4285-8856-317301A04B8D}"/>
              </a:ext>
            </a:extLst>
          </p:cNvPr>
          <p:cNvSpPr/>
          <p:nvPr/>
        </p:nvSpPr>
        <p:spPr>
          <a:xfrm>
            <a:off x="8042564" y="0"/>
            <a:ext cx="4149436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716AB96-3FFB-4390-B84E-B778A7B5E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75ADA85-1D7A-4978-A3BE-52C9BBFE2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65D6FB5-FBAE-4505-B5ED-E456FBC72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D40DEA81-F819-4D52-B200-C19F700E9CC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1814" y="1781175"/>
            <a:ext cx="6975474" cy="4251324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E6E544DD-FFE2-4870-BFDB-20A397D20151}"/>
              </a:ext>
            </a:extLst>
          </p:cNvPr>
          <p:cNvSpPr>
            <a:spLocks noGrp="1"/>
          </p:cNvSpPr>
          <p:nvPr>
            <p:ph sz="quarter" idx="17"/>
          </p:nvPr>
        </p:nvSpPr>
        <p:spPr bwMode="white">
          <a:xfrm>
            <a:off x="8591550" y="1781174"/>
            <a:ext cx="3032125" cy="4251325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EE3DE3D3-7105-4122-840A-2E5D3E1C45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53283" y="356235"/>
            <a:ext cx="384463" cy="384463"/>
          </a:xfrm>
          <a:prstGeom prst="rect">
            <a:avLst/>
          </a:prstGeom>
        </p:spPr>
      </p:pic>
      <p:sp>
        <p:nvSpPr>
          <p:cNvPr id="7" name="Titel 6">
            <a:extLst>
              <a:ext uri="{FF2B5EF4-FFF2-40B4-BE49-F238E27FC236}">
                <a16:creationId xmlns:a16="http://schemas.microsoft.com/office/drawing/2014/main" id="{F11D287C-B525-4ECA-8808-16A7B2AA66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813" y="372288"/>
            <a:ext cx="6975474" cy="775597"/>
          </a:xfrm>
        </p:spPr>
        <p:txBody>
          <a:bodyPr/>
          <a:lstStyle/>
          <a:p>
            <a:r>
              <a:rPr lang="de-DE" dirty="0"/>
              <a:t>Folientitel</a:t>
            </a:r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69D8BF5B-2A34-4B96-8512-43ACC82EB5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813" y="1141200"/>
            <a:ext cx="6975474" cy="378000"/>
          </a:xfrm>
        </p:spPr>
        <p:txBody>
          <a:bodyPr>
            <a:noAutofit/>
          </a:bodyPr>
          <a:lstStyle>
            <a:lvl1pPr>
              <a:defRPr sz="23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170436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5" userDrawn="1">
          <p15:clr>
            <a:srgbClr val="FBAE40"/>
          </p15:clr>
        </p15:guide>
        <p15:guide id="2" pos="5412" userDrawn="1">
          <p15:clr>
            <a:srgbClr val="FBAE40"/>
          </p15:clr>
        </p15:guide>
        <p15:guide id="3" pos="4729" userDrawn="1">
          <p15:clr>
            <a:srgbClr val="FBAE40"/>
          </p15:clr>
        </p15:guide>
        <p15:guide id="4" orient="horz" pos="4186" userDrawn="1">
          <p15:clr>
            <a:srgbClr val="FBAE40"/>
          </p15:clr>
        </p15:guide>
        <p15:guide id="5" orient="horz" pos="1122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, Inhalt, pastellgrüne Fläche mit Tex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DFFA6248-288A-4285-8856-317301A04B8D}"/>
              </a:ext>
            </a:extLst>
          </p:cNvPr>
          <p:cNvSpPr/>
          <p:nvPr/>
        </p:nvSpPr>
        <p:spPr>
          <a:xfrm>
            <a:off x="8042564" y="0"/>
            <a:ext cx="4149436" cy="6858000"/>
          </a:xfrm>
          <a:prstGeom prst="rect">
            <a:avLst/>
          </a:prstGeom>
          <a:solidFill>
            <a:srgbClr val="EBFA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716AB96-3FFB-4390-B84E-B778A7B5E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75ADA85-1D7A-4978-A3BE-52C9BBFE2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65D6FB5-FBAE-4505-B5ED-E456FBC72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E21C7B6C-9388-4B13-B252-B91C088700C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1813" y="1781173"/>
            <a:ext cx="6969285" cy="4246565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Inhaltsplatzhalter 7">
            <a:extLst>
              <a:ext uri="{FF2B5EF4-FFF2-40B4-BE49-F238E27FC236}">
                <a16:creationId xmlns:a16="http://schemas.microsoft.com/office/drawing/2014/main" id="{CBABA49A-74C9-42AB-BEFB-8AC49258D3B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593931" y="1781174"/>
            <a:ext cx="3026713" cy="42513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43718120-86FA-4237-9BA7-0BCCEFE952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36333" y="371547"/>
            <a:ext cx="384463" cy="384463"/>
          </a:xfrm>
          <a:prstGeom prst="rect">
            <a:avLst/>
          </a:prstGeom>
        </p:spPr>
      </p:pic>
      <p:sp>
        <p:nvSpPr>
          <p:cNvPr id="7" name="Titel 6">
            <a:extLst>
              <a:ext uri="{FF2B5EF4-FFF2-40B4-BE49-F238E27FC236}">
                <a16:creationId xmlns:a16="http://schemas.microsoft.com/office/drawing/2014/main" id="{B0485CF6-A4F9-4D42-A6B0-979370787C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813" y="372288"/>
            <a:ext cx="6975475" cy="775597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Folientitel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6FAD2526-9A4E-47A6-85CF-9FB1FCB8EC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1814" y="1141200"/>
            <a:ext cx="6975475" cy="378000"/>
          </a:xfrm>
        </p:spPr>
        <p:txBody>
          <a:bodyPr>
            <a:noAutofit/>
          </a:bodyPr>
          <a:lstStyle>
            <a:lvl1pPr>
              <a:defRPr sz="23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11586945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5" userDrawn="1">
          <p15:clr>
            <a:srgbClr val="FBAE40"/>
          </p15:clr>
        </p15:guide>
        <p15:guide id="2" pos="5412" userDrawn="1">
          <p15:clr>
            <a:srgbClr val="FBAE40"/>
          </p15:clr>
        </p15:guide>
        <p15:guide id="3" pos="4729" userDrawn="1">
          <p15:clr>
            <a:srgbClr val="FBAE40"/>
          </p15:clr>
        </p15:guide>
        <p15:guide id="4" orient="horz" pos="4186" userDrawn="1">
          <p15:clr>
            <a:srgbClr val="FBAE40"/>
          </p15:clr>
        </p15:guide>
        <p15:guide id="5" orient="horz" pos="1122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Inhalt, pastellgrüne Fläche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E4BAAC3F-189E-4FFC-82C1-CD8630009E8F}"/>
              </a:ext>
            </a:extLst>
          </p:cNvPr>
          <p:cNvSpPr/>
          <p:nvPr/>
        </p:nvSpPr>
        <p:spPr>
          <a:xfrm>
            <a:off x="6172200" y="0"/>
            <a:ext cx="6019800" cy="6858000"/>
          </a:xfrm>
          <a:prstGeom prst="rect">
            <a:avLst/>
          </a:prstGeom>
          <a:solidFill>
            <a:srgbClr val="EBFA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de-DE" dirty="0" err="1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6264B35-2A3C-41F1-A8BD-B33C3A5A7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A38BC5A-30AE-4B13-9081-43F961AA3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07493E4-C91E-477E-B287-E468A9DD4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22B39DEC-136C-4218-B442-3360DBA85F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4195" y="1779588"/>
            <a:ext cx="5112000" cy="4252912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B0DE5EC-B5BA-4D72-9D63-A245EC9055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36333" y="371547"/>
            <a:ext cx="384463" cy="384463"/>
          </a:xfrm>
          <a:prstGeom prst="rect">
            <a:avLst/>
          </a:prstGeom>
        </p:spPr>
      </p:pic>
      <p:sp>
        <p:nvSpPr>
          <p:cNvPr id="6" name="Titel 5">
            <a:extLst>
              <a:ext uri="{FF2B5EF4-FFF2-40B4-BE49-F238E27FC236}">
                <a16:creationId xmlns:a16="http://schemas.microsoft.com/office/drawing/2014/main" id="{651B11F0-CDAB-4A22-BB59-5EACEDC130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813" y="372288"/>
            <a:ext cx="5114925" cy="775597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Folientitel</a:t>
            </a:r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F552CF74-D677-486C-B83E-6264877F9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1814" y="1141200"/>
            <a:ext cx="5114925" cy="378000"/>
          </a:xfrm>
        </p:spPr>
        <p:txBody>
          <a:bodyPr>
            <a:noAutofit/>
          </a:bodyPr>
          <a:lstStyle>
            <a:lvl1pPr>
              <a:defRPr sz="23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2608593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21" userDrawn="1">
          <p15:clr>
            <a:srgbClr val="FBAE40"/>
          </p15:clr>
        </p15:guide>
        <p15:guide id="2" pos="3557" userDrawn="1">
          <p15:clr>
            <a:srgbClr val="FBAE40"/>
          </p15:clr>
        </p15:guide>
        <p15:guide id="3" orient="horz" pos="4186" userDrawn="1">
          <p15:clr>
            <a:srgbClr val="FBAE40"/>
          </p15:clr>
        </p15:guide>
        <p15:guide id="4" orient="horz" pos="725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ontakt,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A953194-4A81-4864-ABC1-A8827FF8AF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2680" y="1661390"/>
            <a:ext cx="9301680" cy="1185718"/>
          </a:xfrm>
        </p:spPr>
        <p:txBody>
          <a:bodyPr/>
          <a:lstStyle>
            <a:lvl1pPr>
              <a:spcBef>
                <a:spcPts val="0"/>
              </a:spcBef>
              <a:defRPr sz="64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Vielen Dank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F2C1768E-8A01-4C50-9F1E-C75BD45D8A7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2680" y="4954093"/>
            <a:ext cx="3371850" cy="1077218"/>
          </a:xfrm>
        </p:spPr>
        <p:txBody>
          <a:bodyPr>
            <a:noAutofit/>
          </a:bodyPr>
          <a:lstStyle>
            <a:lvl1pPr>
              <a:lnSpc>
                <a:spcPts val="2100"/>
              </a:lnSpc>
              <a:spcBef>
                <a:spcPts val="0"/>
              </a:spcBef>
              <a:defRPr sz="1800"/>
            </a:lvl1pPr>
          </a:lstStyle>
          <a:p>
            <a:pPr lvl="0"/>
            <a:r>
              <a:rPr lang="de-DE" dirty="0"/>
              <a:t>Funktion</a:t>
            </a:r>
          </a:p>
          <a:p>
            <a:pPr lvl="0"/>
            <a:r>
              <a:rPr lang="de-DE" dirty="0"/>
              <a:t>AOK Länderkennzeichnung</a:t>
            </a:r>
          </a:p>
          <a:p>
            <a:pPr lvl="0"/>
            <a:r>
              <a:rPr lang="de-DE" dirty="0"/>
              <a:t>Musterstraße 123</a:t>
            </a:r>
          </a:p>
          <a:p>
            <a:pPr lvl="0"/>
            <a:r>
              <a:rPr lang="de-DE" dirty="0"/>
              <a:t>12345 Musterstadt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4378326E-5D5E-46C7-826E-5B776E06B08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49101" y="4954624"/>
            <a:ext cx="5499546" cy="1077218"/>
          </a:xfrm>
        </p:spPr>
        <p:txBody>
          <a:bodyPr anchor="t" anchorCtr="0">
            <a:noAutofit/>
          </a:bodyPr>
          <a:lstStyle>
            <a:lvl1pPr>
              <a:lnSpc>
                <a:spcPts val="2100"/>
              </a:lnSpc>
              <a:spcBef>
                <a:spcPts val="0"/>
              </a:spcBef>
              <a:defRPr sz="1800"/>
            </a:lvl1pPr>
          </a:lstStyle>
          <a:p>
            <a:pPr lvl="0"/>
            <a:r>
              <a:rPr lang="de-DE" dirty="0"/>
              <a:t>P +49 (123) 45 67 89</a:t>
            </a:r>
          </a:p>
          <a:p>
            <a:pPr lvl="0"/>
            <a:r>
              <a:rPr lang="de-DE" dirty="0"/>
              <a:t>F +49 (123) 45 67 89</a:t>
            </a:r>
          </a:p>
          <a:p>
            <a:pPr lvl="0"/>
            <a:r>
              <a:rPr lang="de-DE" dirty="0"/>
              <a:t>M +49 (123) 45 67 89 0</a:t>
            </a:r>
          </a:p>
          <a:p>
            <a:pPr lvl="0"/>
            <a:r>
              <a:rPr lang="de-DE" dirty="0"/>
              <a:t>E vorname.nachname@aok.de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FD2B5C3-11A3-4174-BC4F-449503257D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2679" y="4333009"/>
            <a:ext cx="9292157" cy="276999"/>
          </a:xfrm>
        </p:spPr>
        <p:txBody>
          <a:bodyPr>
            <a:noAutofit/>
          </a:bodyPr>
          <a:lstStyle>
            <a:lvl1pPr>
              <a:defRPr>
                <a:latin typeface="+mj-lt"/>
              </a:defRPr>
            </a:lvl1pPr>
          </a:lstStyle>
          <a:p>
            <a:pPr lvl="0"/>
            <a:r>
              <a:rPr lang="de-DE" dirty="0"/>
              <a:t>Vorname Nachname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6BB955E-52A4-4FD7-9D87-D8B4088E0A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48646" y="372807"/>
            <a:ext cx="1779113" cy="55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6246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39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ntakt,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AA20A50D-CAEB-42D1-9B3F-4D16F9BF46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5C3367B4-09CF-4ADC-ABE5-DC26BA12CE7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531743" y="1661390"/>
            <a:ext cx="9294291" cy="1185718"/>
          </a:xfrm>
        </p:spPr>
        <p:txBody>
          <a:bodyPr/>
          <a:lstStyle>
            <a:lvl1pPr>
              <a:spcBef>
                <a:spcPts val="0"/>
              </a:spcBef>
              <a:defRPr sz="6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Vielen Dank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A083CFB7-931B-4839-8D10-C8E469EC79F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31743" y="4954093"/>
            <a:ext cx="3371850" cy="1077218"/>
          </a:xfrm>
        </p:spPr>
        <p:txBody>
          <a:bodyPr>
            <a:noAutofit/>
          </a:bodyPr>
          <a:lstStyle>
            <a:lvl1pPr>
              <a:lnSpc>
                <a:spcPts val="21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Funktion</a:t>
            </a:r>
          </a:p>
          <a:p>
            <a:pPr lvl="0"/>
            <a:r>
              <a:rPr lang="de-DE" dirty="0"/>
              <a:t>AOK Länderkennzeichnung</a:t>
            </a:r>
          </a:p>
          <a:p>
            <a:pPr lvl="0"/>
            <a:r>
              <a:rPr lang="de-DE" dirty="0"/>
              <a:t>Musterstraße 123</a:t>
            </a:r>
          </a:p>
          <a:p>
            <a:pPr lvl="0"/>
            <a:r>
              <a:rPr lang="de-DE" dirty="0"/>
              <a:t>12345 Musterstadt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F55EBCCF-2FEB-4910-90A0-FD8B5D5111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4348163" y="4954624"/>
            <a:ext cx="5492157" cy="1077218"/>
          </a:xfrm>
        </p:spPr>
        <p:txBody>
          <a:bodyPr anchor="t" anchorCtr="0">
            <a:noAutofit/>
          </a:bodyPr>
          <a:lstStyle>
            <a:lvl1pPr>
              <a:lnSpc>
                <a:spcPts val="21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P +49 (123) 45 67 89</a:t>
            </a:r>
          </a:p>
          <a:p>
            <a:pPr lvl="0"/>
            <a:r>
              <a:rPr lang="de-DE" dirty="0"/>
              <a:t>F +49 (123) 45 67 89</a:t>
            </a:r>
          </a:p>
          <a:p>
            <a:pPr lvl="0"/>
            <a:r>
              <a:rPr lang="de-DE" dirty="0"/>
              <a:t>M +49 (123) 45 67 89 0</a:t>
            </a:r>
          </a:p>
          <a:p>
            <a:pPr lvl="0"/>
            <a:r>
              <a:rPr lang="de-DE" dirty="0"/>
              <a:t>E vorname.nachname@aok.de</a:t>
            </a:r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AFC9B68D-65AD-47A3-AEAC-D1ED4EE7D9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531742" y="4333009"/>
            <a:ext cx="9284768" cy="276999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Vorname Nachname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DB8B34A-FB14-4B2D-9B3B-8BF44AAC1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41257" y="372717"/>
            <a:ext cx="1782421" cy="55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9940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39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BB67008-ACB6-488C-80EF-57C55636C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D1AFD9B-93CA-4DAE-9953-B8EB0F3D1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E9F0869-8A12-47AA-8F9B-8ADF38B78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135984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theme" Target="../theme/theme1.xml"/><Relationship Id="rId39" Type="http://schemas.openxmlformats.org/officeDocument/2006/relationships/image" Target="../media/image1.png"/><Relationship Id="rId40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834FD6D-48F3-4A5C-8E77-DBCE4EB46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3" y="372288"/>
            <a:ext cx="10080000" cy="77559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Folientitel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CC67E9-5BDD-4FB7-AEA4-0A3D41EE96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1813" y="1782078"/>
            <a:ext cx="11088000" cy="424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7423CBB-470C-4515-AF28-06E6352AAE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1813" y="6488019"/>
            <a:ext cx="680398" cy="15408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A9DC61F-9E66-4252-86CA-8F6B637966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34211" y="6488019"/>
            <a:ext cx="4771400" cy="153888"/>
          </a:xfrm>
          <a:prstGeom prst="rect">
            <a:avLst/>
          </a:prstGeom>
        </p:spPr>
        <p:txBody>
          <a:bodyPr vert="horz" lIns="72000" tIns="0" rIns="0" bIns="0" rtlCol="0" anchor="t" anchorCtr="0">
            <a:noAutofit/>
          </a:bodyPr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6264B0-1D56-4DD2-90C5-9272945227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6846" y="6488019"/>
            <a:ext cx="292967" cy="1538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BB548F3A-77B7-4DBE-97EE-70ED2DC290A6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1236333" y="371547"/>
            <a:ext cx="384463" cy="38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428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663" r:id="rId5"/>
    <p:sldLayoutId id="2147483664" r:id="rId6"/>
    <p:sldLayoutId id="2147483701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702" r:id="rId13"/>
    <p:sldLayoutId id="2147483703" r:id="rId14"/>
    <p:sldLayoutId id="2147483704" r:id="rId15"/>
    <p:sldLayoutId id="2147483705" r:id="rId16"/>
    <p:sldLayoutId id="2147483688" r:id="rId17"/>
    <p:sldLayoutId id="2147483691" r:id="rId18"/>
    <p:sldLayoutId id="2147483682" r:id="rId19"/>
    <p:sldLayoutId id="2147483674" r:id="rId20"/>
    <p:sldLayoutId id="2147483675" r:id="rId21"/>
    <p:sldLayoutId id="2147483678" r:id="rId22"/>
    <p:sldLayoutId id="2147483677" r:id="rId23"/>
    <p:sldLayoutId id="2147483676" r:id="rId24"/>
    <p:sldLayoutId id="2147483706" r:id="rId25"/>
    <p:sldLayoutId id="2147483707" r:id="rId26"/>
    <p:sldLayoutId id="2147483708" r:id="rId27"/>
    <p:sldLayoutId id="2147483680" r:id="rId28"/>
    <p:sldLayoutId id="2147483698" r:id="rId29"/>
    <p:sldLayoutId id="2147483709" r:id="rId30"/>
    <p:sldLayoutId id="2147483686" r:id="rId31"/>
    <p:sldLayoutId id="2147483685" r:id="rId32"/>
    <p:sldLayoutId id="2147483687" r:id="rId33"/>
    <p:sldLayoutId id="2147483696" r:id="rId34"/>
    <p:sldLayoutId id="2147483693" r:id="rId35"/>
    <p:sldLayoutId id="2147483694" r:id="rId36"/>
    <p:sldLayoutId id="2147483699" r:id="rId3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2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700"/>
        </a:spcBef>
        <a:spcAft>
          <a:spcPts val="200"/>
        </a:spcAft>
        <a:buClrTx/>
        <a:buFont typeface="AOK Buenos Aires" pitchFamily="50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700"/>
        </a:spcBef>
        <a:spcAft>
          <a:spcPts val="200"/>
        </a:spcAft>
        <a:buClrTx/>
        <a:buFont typeface="AOK Buenos Aires" pitchFamily="50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700"/>
        </a:spcBef>
        <a:spcAft>
          <a:spcPts val="200"/>
        </a:spcAft>
        <a:buFont typeface="AOK Buenos Aires" pitchFamily="50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700"/>
        </a:spcBef>
        <a:spcAft>
          <a:spcPts val="200"/>
        </a:spcAft>
        <a:buFont typeface="AOK Buenos Aires" pitchFamily="50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720000" indent="-180000" algn="l" defTabSz="914400" rtl="0" eaLnBrk="1" latinLnBrk="0" hangingPunct="1">
        <a:lnSpc>
          <a:spcPct val="110000"/>
        </a:lnSpc>
        <a:spcBef>
          <a:spcPts val="700"/>
        </a:spcBef>
        <a:spcAft>
          <a:spcPts val="200"/>
        </a:spcAft>
        <a:buFont typeface="AOK Buenos Aires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720000" indent="-180000" algn="l" defTabSz="914400" rtl="0" eaLnBrk="1" latinLnBrk="0" hangingPunct="1">
        <a:lnSpc>
          <a:spcPct val="110000"/>
        </a:lnSpc>
        <a:spcBef>
          <a:spcPts val="700"/>
        </a:spcBef>
        <a:spcAft>
          <a:spcPts val="200"/>
        </a:spcAft>
        <a:buFont typeface="AOK Buenos Aires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720000" indent="-180000" algn="l" defTabSz="914400" rtl="0" eaLnBrk="1" latinLnBrk="0" hangingPunct="1">
        <a:lnSpc>
          <a:spcPct val="110000"/>
        </a:lnSpc>
        <a:spcBef>
          <a:spcPts val="700"/>
        </a:spcBef>
        <a:spcAft>
          <a:spcPts val="200"/>
        </a:spcAft>
        <a:buFont typeface="AOK Buenos Aires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720000" indent="-180000" algn="l" defTabSz="914400" rtl="0" eaLnBrk="1" latinLnBrk="0" hangingPunct="1">
        <a:lnSpc>
          <a:spcPct val="110000"/>
        </a:lnSpc>
        <a:spcBef>
          <a:spcPts val="700"/>
        </a:spcBef>
        <a:spcAft>
          <a:spcPts val="200"/>
        </a:spcAft>
        <a:buFont typeface="AOK Buenos Aires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321" userDrawn="1">
          <p15:clr>
            <a:srgbClr val="F26B43"/>
          </p15:clr>
        </p15:guide>
        <p15:guide id="2" pos="335" userDrawn="1">
          <p15:clr>
            <a:srgbClr val="F26B43"/>
          </p15:clr>
        </p15:guide>
        <p15:guide id="3" orient="horz" pos="3800" userDrawn="1">
          <p15:clr>
            <a:srgbClr val="F26B43"/>
          </p15:clr>
        </p15:guide>
        <p15:guide id="5" orient="horz" pos="232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 b="0">
                <a:solidFill>
                  <a:srgbClr val="FFFFFF"/>
                </a:solidFill>
                <a:latin typeface="AOK Bundesweit"/>
              </a:rPr>
              <a:t>Bewertung für öffentlich-rechtliche Einrichtungen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rPr sz="1200" b="0">
                <a:solidFill>
                  <a:srgbClr val="FFFFFF"/>
                </a:solidFill>
                <a:latin typeface="AOK Bundesweit"/>
              </a:rPr>
              <a:t>März 2026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OK Bundesweit"/>
              </a:rPr>
              <a:t>VDI-Lösungen</a:t>
            </a:r>
          </a:p>
          <a:p>
            <a:r>
              <a:rPr sz="2800" b="0">
                <a:solidFill>
                  <a:srgbClr val="FFFFFF"/>
                </a:solidFill>
                <a:latin typeface="AOK Bundesweit"/>
              </a:rPr>
              <a:t>Umfassende Vergleichsanalyse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AOK Bundesweit"/>
              </a:rPr>
              <a:t>1.  Ausgangslage und Zielsetzung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AOK Bundesweit"/>
              </a:rPr>
              <a:t>2.  Bewertete VDI-Lösungen im Überblick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AOK Bundesweit"/>
              </a:rPr>
              <a:t>3.  Einzelanalysen der sechs Lösungen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AOK Bundesweit"/>
              </a:rPr>
              <a:t>4.  Vergleichsmatrix und TCO-Kostenvergleich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AOK Bundesweit"/>
              </a:rPr>
              <a:t>5.  Datenschutz und IT-Sicherheit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AOK Bundesweit"/>
              </a:rPr>
              <a:t>6.  Vergaberechtliche Aspekte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AOK Bundesweit"/>
              </a:rPr>
              <a:t>7.  Bewertungsmatrix und Empfehlung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AOK Bundesweit"/>
              </a:rPr>
              <a:t>8.  Nächste Schritte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007B3E"/>
                </a:solidFill>
                <a:latin typeface="AOK Bundesweit"/>
              </a:rPr>
              <a:t>Ziel:</a:t>
            </a:r>
            <a:r>
              <a:rPr sz="1500" b="0">
                <a:solidFill>
                  <a:srgbClr val="333333"/>
                </a:solidFill>
                <a:latin typeface="AOK Bundesweit"/>
              </a:rPr>
              <a:t> Evaluierung geeigneter VDI-Lösungen für unsere öffentlich-rechtliche Einrichtung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07B3E"/>
                </a:solidFill>
                <a:latin typeface="AOK Bundesweit"/>
              </a:rPr>
              <a:t>Anforderungen:</a:t>
            </a:r>
            <a:r>
              <a:rPr sz="1500" b="0">
                <a:solidFill>
                  <a:srgbClr val="333333"/>
                </a:solidFill>
                <a:latin typeface="AOK Bundesweit"/>
              </a:rPr>
              <a:t> Datenschutz (DSGVO), IT-Sicherheit (BSI), Vergaberecht (VgV/UVgO)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07B3E"/>
                </a:solidFill>
                <a:latin typeface="AOK Bundesweit"/>
              </a:rPr>
              <a:t>Bewertungskriterien:</a:t>
            </a:r>
            <a:r>
              <a:rPr sz="1500" b="0">
                <a:solidFill>
                  <a:srgbClr val="333333"/>
                </a:solidFill>
                <a:latin typeface="AOK Bundesweit"/>
              </a:rPr>
              <a:t> Kosten, Datenschutz, Funktionalität, Support, Vergaberecht, Zukunftssicherheit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07B3E"/>
                </a:solidFill>
                <a:latin typeface="AOK Bundesweit"/>
              </a:rPr>
              <a:t>Sechs Lösungen:</a:t>
            </a:r>
            <a:r>
              <a:rPr sz="1500" b="0">
                <a:solidFill>
                  <a:srgbClr val="333333"/>
                </a:solidFill>
                <a:latin typeface="AOK Bundesweit"/>
              </a:rPr>
              <a:t> Von klassisch On-Premises bis Cloud, von proprietär bis Open Source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07B3E"/>
                </a:solidFill>
                <a:latin typeface="AOK Bundesweit"/>
              </a:rPr>
              <a:t>Zielgruppe:</a:t>
            </a:r>
            <a:r>
              <a:rPr sz="1500" b="0">
                <a:solidFill>
                  <a:srgbClr val="333333"/>
                </a:solidFill>
                <a:latin typeface="AOK Bundesweit"/>
              </a:rPr>
              <a:t> Entscheidungsträger IT und Geschäftsführung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Warum eine VDI-Evaluierung?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Ausgangslage und Zielsetzung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Bewertete VDI-Lösungen im Überblick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Sechs Lösungen — von On-Premises bis Cloud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0000" y="1512000"/>
          <a:ext cx="9000000" cy="20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1620000"/>
                <a:gridCol w="2880000"/>
                <a:gridCol w="1980000"/>
              </a:tblGrid>
              <a:tr h="288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OK Bundesweit"/>
                        </a:rPr>
                        <a:t>Lösung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OK Bundesweit"/>
                        </a:rPr>
                        <a:t>Typ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OK Bundesweit"/>
                        </a:rPr>
                        <a:t>Hersteller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OK Bundesweit"/>
                        </a:rPr>
                        <a:t>Lizenzmodell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Windows RDS</a:t>
                      </a:r>
                    </a:p>
                  </a:txBody>
                  <a:tcPr anchor="ctr">
                    <a:solidFill>
                      <a:srgbClr val="F0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On-Premises</a:t>
                      </a:r>
                    </a:p>
                  </a:txBody>
                  <a:tcPr anchor="ctr">
                    <a:solidFill>
                      <a:srgbClr val="F0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Microsoft</a:t>
                      </a:r>
                    </a:p>
                  </a:txBody>
                  <a:tcPr anchor="ctr">
                    <a:solidFill>
                      <a:srgbClr val="F0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CAL-basiert</a:t>
                      </a:r>
                    </a:p>
                  </a:txBody>
                  <a:tcPr anchor="ctr">
                    <a:solidFill>
                      <a:srgbClr val="F0F7F0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Azure Local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Hybrid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Microsoft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Subscription</a:t>
                      </a:r>
                    </a:p>
                  </a:txBody>
                  <a:tcPr anchor="ctr"/>
                </a:tc>
              </a:tr>
              <a:tr h="288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Azure Virtual Desktop</a:t>
                      </a:r>
                    </a:p>
                  </a:txBody>
                  <a:tcPr anchor="ctr">
                    <a:solidFill>
                      <a:srgbClr val="F0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Cloud</a:t>
                      </a:r>
                    </a:p>
                  </a:txBody>
                  <a:tcPr anchor="ctr">
                    <a:solidFill>
                      <a:srgbClr val="F0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Microsoft</a:t>
                      </a:r>
                    </a:p>
                  </a:txBody>
                  <a:tcPr anchor="ctr">
                    <a:solidFill>
                      <a:srgbClr val="F0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Pay-as-you-go</a:t>
                      </a:r>
                    </a:p>
                  </a:txBody>
                  <a:tcPr anchor="ctr">
                    <a:solidFill>
                      <a:srgbClr val="F0F7F0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Omnissa Horizon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On-Prem/Hybrid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Omnissa (KKR)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Subscription</a:t>
                      </a:r>
                    </a:p>
                  </a:txBody>
                  <a:tcPr anchor="ctr"/>
                </a:tc>
              </a:tr>
              <a:tr h="288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OpenDesktop</a:t>
                      </a:r>
                    </a:p>
                  </a:txBody>
                  <a:tcPr anchor="ctr">
                    <a:solidFill>
                      <a:srgbClr val="F0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On-Premises</a:t>
                      </a:r>
                    </a:p>
                  </a:txBody>
                  <a:tcPr anchor="ctr">
                    <a:solidFill>
                      <a:srgbClr val="F0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Community</a:t>
                      </a:r>
                    </a:p>
                  </a:txBody>
                  <a:tcPr anchor="ctr">
                    <a:solidFill>
                      <a:srgbClr val="F0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Open Source</a:t>
                      </a:r>
                    </a:p>
                  </a:txBody>
                  <a:tcPr anchor="ctr">
                    <a:solidFill>
                      <a:srgbClr val="F0F7F0"/>
                    </a:solidFill>
                  </a:tcPr>
                </a:tc>
              </a:tr>
              <a:tr h="288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Proxmox + UDS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On-Premises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Proxmox/VirtualCable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OS + kommerziell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Detailbewertung der sechs VDI-Lösungen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Einzelanalysen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07B3E"/>
                </a:solidFill>
                <a:latin typeface="AOK Bundesweit"/>
              </a:rPr>
              <a:t>Vorteile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+ Bewährt, breit dokumentiert, großes Ökosystem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+ Nahtlose AD- und M365-Integration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+ RDP-Clients auf allen Plattformen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+ RemoteApps: Einzelanwendungen ohne Full-Desktop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+ Vorhandenes Know-how in den meisten IT-Abteilungen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+ Volle On-Premises-Kontrolle</a:t>
            </a:r>
          </a:p>
          <a:p>
            <a:pPr>
              <a:spcBef>
                <a:spcPts val="1200"/>
              </a:spcBef>
            </a:pPr>
            <a:r>
              <a:rPr sz="1100" b="1">
                <a:solidFill>
                  <a:srgbClr val="007B3E"/>
                </a:solidFill>
                <a:latin typeface="AOK Bundesweit"/>
              </a:rPr>
              <a:t>TCO 5J / 100 User: ~255.000 € (~510 €/User/Jahr)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C00000"/>
                </a:solidFill>
                <a:latin typeface="AOK Bundesweit"/>
              </a:rPr>
              <a:t>Nachteile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– Keine echte VDI (sitzungsbasiert, geteiltes OS)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– Skalierungsgrenzen (~50-80 User/Server)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– Eingeschränkte Multimedia/GPU-Performance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– Steigende CAL-Kosten bei Wachstum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– Kein modernes zentrales Management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Windows Terminal Server (RDS)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Klassische sitzungsbasierte Desktop-Bereitstellung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07B3E"/>
                </a:solidFill>
                <a:latin typeface="AOK Bundesweit"/>
              </a:rPr>
              <a:t>Vorteile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+ Daten bleiben im eigenen RZ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+ AVD on-premises möglich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+ Azure-Management (Arc) und -Dienste lokal nutzbar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+ Skalierbar (2-16 Knoten pro Cluster)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+ Volle Microsoft-Ökosystem-Kompatibilität</a:t>
            </a:r>
          </a:p>
          <a:p>
            <a:pPr>
              <a:spcBef>
                <a:spcPts val="1200"/>
              </a:spcBef>
            </a:pPr>
            <a:r>
              <a:rPr sz="1100" b="1">
                <a:solidFill>
                  <a:srgbClr val="007B3E"/>
                </a:solidFill>
                <a:latin typeface="AOK Bundesweit"/>
              </a:rPr>
              <a:t>TCO 5J / 100 User: ~625.000 € (~1.250 €/User/Jahr)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C00000"/>
                </a:solidFill>
                <a:latin typeface="AOK Bundesweit"/>
              </a:rPr>
              <a:t>Nachteile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– Azure-Verbindung für Management zwingend erforderlich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– Hohe Einstiegskosten (zertifizierte HCI-Hardware)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– Komplexe Lizenzierung (Hardware + Cloud + User)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– Starker Microsoft-Lock-in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– Azure-Subscription auch bei reinem On-Prem nötig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Local (ehem. Azure Stack HCI)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Hybrid: Azure-Dienste auf eigener Hardware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07B3E"/>
                </a:solidFill>
                <a:latin typeface="AOK Bundesweit"/>
              </a:rPr>
              <a:t>Vorteile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+ Keine eigene Hardware nötig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+ Elastische Skalierung (Autoscaling)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+ Multi-Session Windows 11 (einzigartig)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+ Integrierte Sicherheit (Defender, MFA)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+ FSLogix-Profile, M365-Optimierung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+ Schnelle Bereitstellung in Minuten</a:t>
            </a:r>
          </a:p>
          <a:p>
            <a:pPr>
              <a:spcBef>
                <a:spcPts val="1200"/>
              </a:spcBef>
            </a:pPr>
            <a:r>
              <a:rPr sz="1100" b="1">
                <a:solidFill>
                  <a:srgbClr val="007B3E"/>
                </a:solidFill>
                <a:latin typeface="AOK Bundesweit"/>
              </a:rPr>
              <a:t>TCO 5J / 100 User: ~620.000 € (~1.240 €/User/Jahr)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C00000"/>
                </a:solidFill>
                <a:latin typeface="AOK Bundesweit"/>
              </a:rPr>
              <a:t>Nachteile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– Datensouveränität kritisch (CLOUD Act, Schrems-II)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– Laufende Kosten bei Dauerbetrieb hoch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– Vollständige Internetabhängigkeit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– Starker Vendor-Lock-in (Azure)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– Komplexe Kostenprognose (verbrauchsbasiert)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– Rechtliche Unsicherheit für öffentl. Einrichtungen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Virtual Desktop (Cloud)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Vollständig cloudbasierte VDI in Microsoft Azure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07B3E"/>
                </a:solidFill>
                <a:latin typeface="AOK Bundesweit"/>
              </a:rPr>
              <a:t>Vorteile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+ Vollwertige VDI mit dedizierter VM pro Nutzer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+ Blast Extreme: Bestes Display-Protokoll (WAN)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+ Instant Clones, App Volumes, DEM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+ Windows + Linux als Gast-OS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+ Unter Omnissa: eigene Roadmap, besserer Support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+ Flexible Deployment (On-Prem, SaaS, DaaS)</a:t>
            </a:r>
          </a:p>
          <a:p>
            <a:pPr>
              <a:spcBef>
                <a:spcPts val="1200"/>
              </a:spcBef>
            </a:pPr>
            <a:r>
              <a:rPr sz="1100" b="1">
                <a:solidFill>
                  <a:srgbClr val="007B3E"/>
                </a:solidFill>
                <a:latin typeface="AOK Bundesweit"/>
              </a:rPr>
              <a:t>TCO 5J / 100 User: ~675.000 € (~1.350 €/User/Jahr)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C00000"/>
                </a:solidFill>
                <a:latin typeface="AOK Bundesweit"/>
              </a:rPr>
              <a:t>Nachteile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– vSphere-Kosten (Broadcom): 3-12x teurer geworden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– Nur noch Subscription (keine Perpetual-Lizenzen)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– Komplexe Infrastruktur (vSphere, vCenter, UAG)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– Unsichere Langfrist-Strategie (KKR = Private Equity)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– Basic Support abgekündigt (nur noch Production)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– Starker Vendor-Lock-in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Omnissa Horizon (ehem. VMware)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Enterprise-VDI — seit 07/2024 unter KKR (ex-Broadcom/VMware)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07B3E"/>
                </a:solidFill>
                <a:latin typeface="AOK Bundesweit"/>
              </a:rPr>
              <a:t>Vorteile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+ Keine Lizenzkosten (Kernkomponenten frei)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+ Maximale Transparenz (Quellcode einsehbar)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+ Volle Datensouveränität, keine Telemetrie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+ Vendor-unabhängig, fördert Wettbewerb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+ Linux-native, BSI-Audit möglich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+ Vergaberechtlich vorteilhaft</a:t>
            </a:r>
          </a:p>
          <a:p>
            <a:pPr>
              <a:spcBef>
                <a:spcPts val="1200"/>
              </a:spcBef>
            </a:pPr>
            <a:r>
              <a:rPr sz="1100" b="1">
                <a:solidFill>
                  <a:srgbClr val="007B3E"/>
                </a:solidFill>
                <a:latin typeface="AOK Bundesweit"/>
              </a:rPr>
              <a:t>TCO 5J / 100 User: ~370.000 € (~740 €/User/Jahr)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C00000"/>
                </a:solidFill>
                <a:latin typeface="AOK Bundesweit"/>
              </a:rPr>
              <a:t>Nachteile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– Kein einheitliches Produkt — Integration nötig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– Windows als Gast erfordert weiterhin MS-Lizenzen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– Kein kommerzieller Support aus einer Hand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– Hoher Integrationsaufwand und Personalkosten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– Display-Performance hinter proprietären Protokollen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– Wenig Referenzen in deutschen Behörden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Source — OpenDesktop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KVM/QEMU + Guacamole + XRDP + oVirt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07B3E"/>
                </a:solidFill>
                <a:latin typeface="AOK Bundesweit"/>
              </a:rPr>
              <a:t>Vorteile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+ Proxmox kostenlos nutzbar (Community Edition)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+ UDS Enterprise: Enterprise-VDI-Features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+ EU-Hersteller (Österreich/Spanien) — DSGVO-konform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+ Multi-Protokoll (RDP, SPICE, HTML5, X2Go)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+ Kosteneffizient vs. VMware/Citrix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+ Referenzen im öffentlichen Sektor (Spanien)</a:t>
            </a:r>
          </a:p>
          <a:p>
            <a:pPr>
              <a:spcBef>
                <a:spcPts val="1200"/>
              </a:spcBef>
            </a:pPr>
            <a:r>
              <a:rPr sz="1100" b="1">
                <a:solidFill>
                  <a:srgbClr val="007B3E"/>
                </a:solidFill>
                <a:latin typeface="AOK Bundesweit"/>
              </a:rPr>
              <a:t>TCO 5J / 100 User: ~325.000 € (~650 €/User/Jahr)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C00000"/>
                </a:solidFill>
                <a:latin typeface="AOK Bundesweit"/>
              </a:rPr>
              <a:t>Nachteile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– Geringere Marktpräsenz in Deutschland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– UDS Enterprise ist kommerziell (nicht Open Source)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– Kein BSI-/CC-Zertifikat für Proxmox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– Kleineres Ökosystem und weniger Partner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– Kein FSLogix/App Volumes-Äquivalent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– Know-how-Aufbau in DACH noch begrenzt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Proxmox VE + UDS Enterprise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Open-Source-Hypervisor + professioneller VDI-Broker (EU-Hersteller)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Gegenüberstellung aller sechs Lösungen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Vergleich und</a:t>
            </a:r>
          </a:p>
          <a:p>
            <a:r>
              <a:t>Kostenanalyse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Vergleichsmatrix — Kerneigenschaften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0000" y="1260000"/>
          <a:ext cx="9540000" cy="29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/>
                <a:gridCol w="1260000"/>
                <a:gridCol w="1260000"/>
                <a:gridCol w="1260000"/>
                <a:gridCol w="1440000"/>
                <a:gridCol w="1260000"/>
                <a:gridCol w="1440000"/>
              </a:tblGrid>
              <a:tr h="27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OK Bundesweit"/>
                        </a:rPr>
                        <a:t>Kriterium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OK Bundesweit"/>
                        </a:rPr>
                        <a:t>RDS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OK Bundesweit"/>
                        </a:rPr>
                        <a:t>Azure
Local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OK Bundesweit"/>
                        </a:rPr>
                        <a:t>AVD
(Cloud)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OK Bundesweit"/>
                        </a:rPr>
                        <a:t>Omnissa
Horizon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OK Bundesweit"/>
                        </a:rPr>
                        <a:t>Open
Desktop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OK Bundesweit"/>
                        </a:rPr>
                        <a:t>Proxmox
+ UDS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</a:tr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AOK Bundesweit"/>
                        </a:rPr>
                        <a:t>Deployment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On-Prem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Hybrid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Cloud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On-Prem/
Hybrid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On-Prem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On-Prem</a:t>
                      </a:r>
                    </a:p>
                  </a:txBody>
                  <a:tcPr anchor="ctr"/>
                </a:tc>
              </a:tr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AOK Bundesweit"/>
                        </a:rPr>
                        <a:t>Echte VDI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Nein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Ja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Ja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Ja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Ja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Ja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AOK Bundesweit"/>
                        </a:rPr>
                        <a:t>Multi-Session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Ja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Ja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Ja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Ja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Eingeschr.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Eingeschr.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</a:tr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AOK Bundesweit"/>
                        </a:rPr>
                        <a:t>Linux-Desktop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Eingeschr.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Ja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Eingeschr.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Ja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Ja (nativ)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Ja (nativ)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AOK Bundesweit"/>
                        </a:rPr>
                        <a:t>Display-Protokoll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RDP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RDP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RDP opt.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Blast
Extreme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VNC/SPICE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SPICE/RDP
/HTML5</a:t>
                      </a:r>
                    </a:p>
                  </a:txBody>
                  <a:tcPr anchor="ctr"/>
                </a:tc>
              </a:tr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AOK Bundesweit"/>
                        </a:rPr>
                        <a:t>WAN-Perform.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Mittel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Mittel-Gut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Gut</a:t>
                      </a:r>
                    </a:p>
                  </a:txBody>
                  <a:tcPr anchor="ctr">
                    <a:solidFill>
                      <a:srgbClr val="F1F8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Sehr gut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Gering-
Mittel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Mittel</a:t>
                      </a:r>
                    </a:p>
                  </a:txBody>
                  <a:tcPr anchor="ctr"/>
                </a:tc>
              </a:tr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AOK Bundesweit"/>
                        </a:rPr>
                        <a:t>Automatisierung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Gering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Hoch</a:t>
                      </a:r>
                    </a:p>
                  </a:txBody>
                  <a:tcPr anchor="ctr">
                    <a:solidFill>
                      <a:srgbClr val="F1F8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Sehr hoch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Hoch</a:t>
                      </a:r>
                    </a:p>
                  </a:txBody>
                  <a:tcPr anchor="ctr">
                    <a:solidFill>
                      <a:srgbClr val="F1F8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Gering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Mittel</a:t>
                      </a:r>
                    </a:p>
                  </a:txBody>
                  <a:tcPr anchor="ctr"/>
                </a:tc>
              </a:tr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AOK Bundesweit"/>
                        </a:rPr>
                        <a:t>Vendor-Lock-in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Mittel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Hoch</a:t>
                      </a:r>
                    </a:p>
                  </a:txBody>
                  <a:tcPr anchor="ctr">
                    <a:solidFill>
                      <a:srgbClr val="F1F8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Sehr hoch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Hoch</a:t>
                      </a:r>
                    </a:p>
                  </a:txBody>
                  <a:tcPr anchor="ctr">
                    <a:solidFill>
                      <a:srgbClr val="F1F8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Keiner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Gering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</a:tr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AOK Bundesweit"/>
                        </a:rPr>
                        <a:t>Datensouveränität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Hoch</a:t>
                      </a:r>
                    </a:p>
                  </a:txBody>
                  <a:tcPr anchor="ctr">
                    <a:solidFill>
                      <a:srgbClr val="F1F8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Mittel-
Hoch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Gering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Hoch</a:t>
                      </a:r>
                    </a:p>
                  </a:txBody>
                  <a:tcPr anchor="ctr">
                    <a:solidFill>
                      <a:srgbClr val="F1F8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Sehr hoch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Sehr hoch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AOK Bundesweit"/>
                        </a:rPr>
                        <a:t>Reifegrad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Sehr hoch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Hoch</a:t>
                      </a:r>
                    </a:p>
                  </a:txBody>
                  <a:tcPr anchor="ctr">
                    <a:solidFill>
                      <a:srgbClr val="F1F8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Hoch</a:t>
                      </a:r>
                    </a:p>
                  </a:txBody>
                  <a:tcPr anchor="ctr">
                    <a:solidFill>
                      <a:srgbClr val="F1F8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Sehr hoch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Mittel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Mittel-
Hoch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TCO-Kostenvergleich — 5 Jahre, 100 Benutzer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Total Cost of Ownership inkl. Hardware, Lizenzen, Support, Personal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0000" y="1260000"/>
          <a:ext cx="9720000" cy="22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260000"/>
                <a:gridCol w="1260000"/>
                <a:gridCol w="1260000"/>
                <a:gridCol w="1260000"/>
                <a:gridCol w="1260000"/>
                <a:gridCol w="1440000"/>
              </a:tblGrid>
              <a:tr h="252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OK Bundesweit"/>
                        </a:rPr>
                        <a:t>Kostenposition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OK Bundesweit"/>
                        </a:rPr>
                        <a:t>RDS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OK Bundesweit"/>
                        </a:rPr>
                        <a:t>Azure
Local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OK Bundesweit"/>
                        </a:rPr>
                        <a:t>AVD
(Cloud)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OK Bundesweit"/>
                        </a:rPr>
                        <a:t>Omnissa
Horizon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OK Bundesweit"/>
                        </a:rPr>
                        <a:t>Open
Desktop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OK Bundesweit"/>
                        </a:rPr>
                        <a:t>Proxmox
+ UDS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</a:tr>
              <a:tr h="2520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AOK Bundesweit"/>
                        </a:rPr>
                        <a:t>Hardware (einmalig)</a:t>
                      </a:r>
                    </a:p>
                  </a:txBody>
                  <a:tcPr anchor="ctr">
                    <a:solidFill>
                      <a:srgbClr val="F0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30.000 €</a:t>
                      </a:r>
                    </a:p>
                  </a:txBody>
                  <a:tcPr anchor="ctr">
                    <a:solidFill>
                      <a:srgbClr val="F0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70.000 €</a:t>
                      </a:r>
                    </a:p>
                  </a:txBody>
                  <a:tcPr anchor="ctr">
                    <a:solidFill>
                      <a:srgbClr val="F0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0 €</a:t>
                      </a:r>
                    </a:p>
                  </a:txBody>
                  <a:tcPr anchor="ctr">
                    <a:solidFill>
                      <a:srgbClr val="F0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60.000 €</a:t>
                      </a:r>
                    </a:p>
                  </a:txBody>
                  <a:tcPr anchor="ctr">
                    <a:solidFill>
                      <a:srgbClr val="F0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45.000 €</a:t>
                      </a:r>
                    </a:p>
                  </a:txBody>
                  <a:tcPr anchor="ctr">
                    <a:solidFill>
                      <a:srgbClr val="F0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45.000 €</a:t>
                      </a:r>
                    </a:p>
                  </a:txBody>
                  <a:tcPr anchor="ctr">
                    <a:solidFill>
                      <a:srgbClr val="F0F7F0"/>
                    </a:solidFill>
                  </a:tcPr>
                </a:tc>
              </a:tr>
              <a:tr h="2520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AOK Bundesweit"/>
                        </a:rPr>
                        <a:t>Lizenzen (5 J.)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60.000 €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350.000 €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500.000 €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350.000 €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0 €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50.000 €</a:t>
                      </a:r>
                    </a:p>
                  </a:txBody>
                  <a:tcPr anchor="ctr"/>
                </a:tc>
              </a:tr>
              <a:tr h="2520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AOK Bundesweit"/>
                        </a:rPr>
                        <a:t>Windows-Lizenzen (5 J.)</a:t>
                      </a:r>
                    </a:p>
                  </a:txBody>
                  <a:tcPr anchor="ctr">
                    <a:solidFill>
                      <a:srgbClr val="F0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20.000 €</a:t>
                      </a:r>
                    </a:p>
                  </a:txBody>
                  <a:tcPr anchor="ctr">
                    <a:solidFill>
                      <a:srgbClr val="F0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inkl.</a:t>
                      </a:r>
                    </a:p>
                  </a:txBody>
                  <a:tcPr anchor="ctr">
                    <a:solidFill>
                      <a:srgbClr val="F0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inkl.</a:t>
                      </a:r>
                    </a:p>
                  </a:txBody>
                  <a:tcPr anchor="ctr">
                    <a:solidFill>
                      <a:srgbClr val="F0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60.000 €</a:t>
                      </a:r>
                    </a:p>
                  </a:txBody>
                  <a:tcPr anchor="ctr">
                    <a:solidFill>
                      <a:srgbClr val="F0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60.000 €</a:t>
                      </a:r>
                    </a:p>
                  </a:txBody>
                  <a:tcPr anchor="ctr">
                    <a:solidFill>
                      <a:srgbClr val="F0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60.000 €</a:t>
                      </a:r>
                    </a:p>
                  </a:txBody>
                  <a:tcPr anchor="ctr">
                    <a:solidFill>
                      <a:srgbClr val="F0F7F0"/>
                    </a:solidFill>
                  </a:tcPr>
                </a:tc>
              </a:tr>
              <a:tr h="2520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AOK Bundesweit"/>
                        </a:rPr>
                        <a:t>Support (5 J.)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30.000 €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50.000 €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25.000 €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50.000 €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50.000 €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25.000 €</a:t>
                      </a:r>
                    </a:p>
                  </a:txBody>
                  <a:tcPr anchor="ctr"/>
                </a:tc>
              </a:tr>
              <a:tr h="2520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AOK Bundesweit"/>
                        </a:rPr>
                        <a:t>Implementierung</a:t>
                      </a:r>
                    </a:p>
                  </a:txBody>
                  <a:tcPr anchor="ctr">
                    <a:solidFill>
                      <a:srgbClr val="F0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15.000 €</a:t>
                      </a:r>
                    </a:p>
                  </a:txBody>
                  <a:tcPr anchor="ctr">
                    <a:solidFill>
                      <a:srgbClr val="F0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30.000 €</a:t>
                      </a:r>
                    </a:p>
                  </a:txBody>
                  <a:tcPr anchor="ctr">
                    <a:solidFill>
                      <a:srgbClr val="F0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20.000 €</a:t>
                      </a:r>
                    </a:p>
                  </a:txBody>
                  <a:tcPr anchor="ctr">
                    <a:solidFill>
                      <a:srgbClr val="F0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30.000 €</a:t>
                      </a:r>
                    </a:p>
                  </a:txBody>
                  <a:tcPr anchor="ctr">
                    <a:solidFill>
                      <a:srgbClr val="F0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40.000 €</a:t>
                      </a:r>
                    </a:p>
                  </a:txBody>
                  <a:tcPr anchor="ctr">
                    <a:solidFill>
                      <a:srgbClr val="F0F7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20.000 €</a:t>
                      </a:r>
                    </a:p>
                  </a:txBody>
                  <a:tcPr anchor="ctr">
                    <a:solidFill>
                      <a:srgbClr val="F0F7F0"/>
                    </a:solidFill>
                  </a:tcPr>
                </a:tc>
              </a:tr>
              <a:tr h="2520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AOK Bundesweit"/>
                        </a:rPr>
                        <a:t>Internes Personal (5 J.)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100.000 €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125.000 €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75.000 €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125.000 €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175.000 €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AOK Bundesweit"/>
                        </a:rPr>
                        <a:t>125.000 €</a:t>
                      </a:r>
                    </a:p>
                  </a:txBody>
                  <a:tcPr anchor="ctr"/>
                </a:tc>
              </a:tr>
              <a:tr h="2520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OK Bundesweit"/>
                        </a:rPr>
                        <a:t>TCO 5 Jahre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OK Bundesweit"/>
                        </a:rPr>
                        <a:t>~255.000 €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OK Bundesweit"/>
                        </a:rPr>
                        <a:t>~625.000 €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OK Bundesweit"/>
                        </a:rPr>
                        <a:t>~620.000 €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OK Bundesweit"/>
                        </a:rPr>
                        <a:t>~675.000 €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OK Bundesweit"/>
                        </a:rPr>
                        <a:t>~370.000 €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OK Bundesweit"/>
                        </a:rPr>
                        <a:t>~325.000 €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</a:tr>
              <a:tr h="2520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OK Bundesweit"/>
                        </a:rPr>
                        <a:t>TCO pro User/Jahr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OK Bundesweit"/>
                        </a:rPr>
                        <a:t>~510 €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OK Bundesweit"/>
                        </a:rPr>
                        <a:t>~1.250 €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OK Bundesweit"/>
                        </a:rPr>
                        <a:t>~1.240 €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OK Bundesweit"/>
                        </a:rPr>
                        <a:t>~1.350 €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OK Bundesweit"/>
                        </a:rPr>
                        <a:t>~740 €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OK Bundesweit"/>
                        </a:rPr>
                        <a:t>~650 €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DSGVO, BSI, Schrems-II, CLOUD Act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Datenschutz und</a:t>
            </a:r>
          </a:p>
          <a:p>
            <a:r>
              <a:t>IT-Sicherheit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Datensouveränität — Risikobewertung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Schrems-II / CLOUD Act Analyse für öffentlich-rechtliche Einrichtungen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0000" y="1260000"/>
          <a:ext cx="9180000" cy="22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800000"/>
                <a:gridCol w="1800000"/>
                <a:gridCol w="1800000"/>
                <a:gridCol w="1800000"/>
              </a:tblGrid>
              <a:tr h="324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OK Bundesweit"/>
                        </a:rPr>
                        <a:t>Lösung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OK Bundesweit"/>
                        </a:rPr>
                        <a:t>Datenstandort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OK Bundesweit"/>
                        </a:rPr>
                        <a:t>US-Zugriff
möglich?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OK Bundesweit"/>
                        </a:rPr>
                        <a:t>Schrems-II
Risiko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OK Bundesweit"/>
                        </a:rPr>
                        <a:t>Bewertung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AOK Bundesweit"/>
                        </a:rPr>
                        <a:t>RDS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Eigenes RZ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Nein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Gering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Sehr gut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AOK Bundesweit"/>
                        </a:rPr>
                        <a:t>Azure Local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Eigenes RZ
(Mgmt: Azure)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Metadaten:
Ja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Mittel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Gut</a:t>
                      </a:r>
                    </a:p>
                  </a:txBody>
                  <a:tcPr anchor="ctr">
                    <a:solidFill>
                      <a:srgbClr val="F1F8E9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AOK Bundesweit"/>
                        </a:rPr>
                        <a:t>AVD (Cloud)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Azure-RZ
(EU möglich)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Ja
(CLOUD Act)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Hoch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Kritisch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AOK Bundesweit"/>
                        </a:rPr>
                        <a:t>Omnissa Horizon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Eigenes RZ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Nein
(On-Prem)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Gering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Sehr gut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AOK Bundesweit"/>
                        </a:rPr>
                        <a:t>OpenDesktop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Eigenes RZ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Nein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Sehr gering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Sehr gut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AOK Bundesweit"/>
                        </a:rPr>
                        <a:t>Proxmox + UDS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Eigenes RZ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Nein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Sehr gering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Sehr gut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007B3E"/>
                </a:solidFill>
                <a:latin typeface="AOK Bundesweit"/>
              </a:rPr>
              <a:t>Bevorzugt:</a:t>
            </a:r>
            <a:r>
              <a:rPr sz="1200" b="0">
                <a:solidFill>
                  <a:srgbClr val="333333"/>
                </a:solidFill>
                <a:latin typeface="AOK Bundesweit"/>
              </a:rPr>
              <a:t> On-Premises-Lösungen (RDS, Omnissa Horizon, Proxmox + UDS, OpenDesktop)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E07C00"/>
                </a:solidFill>
                <a:latin typeface="AOK Bundesweit"/>
              </a:rPr>
              <a:t>Bedingt geeignet:</a:t>
            </a:r>
            <a:r>
              <a:rPr sz="1200" b="0">
                <a:solidFill>
                  <a:srgbClr val="333333"/>
                </a:solidFill>
                <a:latin typeface="AOK Bundesweit"/>
              </a:rPr>
              <a:t> Azure Local (Hybrid) — nach DSFA und mit organisatorischen Maßnahmen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C00000"/>
                </a:solidFill>
                <a:latin typeface="AOK Bundesweit"/>
              </a:rPr>
              <a:t>Kritisch:</a:t>
            </a:r>
            <a:r>
              <a:rPr sz="1200" b="0">
                <a:solidFill>
                  <a:srgbClr val="333333"/>
                </a:solidFill>
                <a:latin typeface="AOK Bundesweit"/>
              </a:rPr>
              <a:t> AVD Cloud — nur nach umfassender DSFA und Genehmigung durch DSB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07B3E"/>
                </a:solidFill>
                <a:latin typeface="AOK Bundesweit"/>
              </a:rPr>
              <a:t>BSI C5:2025:</a:t>
            </a:r>
            <a:r>
              <a:rPr sz="1200" b="0">
                <a:solidFill>
                  <a:srgbClr val="333333"/>
                </a:solidFill>
                <a:latin typeface="AOK Bundesweit"/>
              </a:rPr>
              <a:t> Erweiterte Kontrollen, Souveränitätskriterien — verpflichtend ab 01/2027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07B3E"/>
                </a:solidFill>
                <a:latin typeface="AOK Bundesweit"/>
              </a:rPr>
              <a:t>Delos Cloud:</a:t>
            </a:r>
            <a:r>
              <a:rPr sz="1200" b="0">
                <a:solidFill>
                  <a:srgbClr val="333333"/>
                </a:solidFill>
                <a:latin typeface="AOK Bundesweit"/>
              </a:rPr>
              <a:t> Souveräne Azure-Alternative unter deutscher Betriebsführung (SAP/Delos GmbH)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07B3E"/>
                </a:solidFill>
                <a:latin typeface="AOK Bundesweit"/>
              </a:rPr>
              <a:t>DVC:</a:t>
            </a:r>
            <a:r>
              <a:rPr sz="1200" b="0">
                <a:solidFill>
                  <a:srgbClr val="333333"/>
                </a:solidFill>
                <a:latin typeface="AOK Bundesweit"/>
              </a:rPr>
              <a:t> Deutsche Verwaltungscloud seit 04/2025 produktiv — vereinfachte Beschaffung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C00000"/>
                </a:solidFill>
                <a:latin typeface="AOK Bundesweit"/>
              </a:rPr>
              <a:t>Landesdatenschutzbeauftragte:</a:t>
            </a:r>
            <a:r>
              <a:rPr sz="1200" b="0">
                <a:solidFill>
                  <a:srgbClr val="333333"/>
                </a:solidFill>
                <a:latin typeface="AOK Bundesweit"/>
              </a:rPr>
              <a:t> Einsatz von MS 365/Azure in öffentl. Verwaltung als problematisch eingestuft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Regulatorischer Rahmen für öffentlich-rechtliche Einrichtungen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Datenschutz — Empfehlungen und Rahmenbedingungen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EU-Schwellenwerte, VgV, UVgO, EVB-IT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Vergaberechtliche</a:t>
            </a:r>
          </a:p>
          <a:p>
            <a:r>
              <a:t>Aspekte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>
            <a:r>
              <a:rPr sz="1300" b="1">
                <a:solidFill>
                  <a:srgbClr val="007B3E"/>
                </a:solidFill>
                <a:latin typeface="AOK Bundesweit"/>
              </a:rPr>
              <a:t>EU-Schwellenwerte (netto)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AOK Bundesweit"/>
              </a:rPr>
              <a:t>Bundesbehörden:</a:t>
            </a:r>
            <a:r>
              <a:rPr sz="1100" b="0">
                <a:solidFill>
                  <a:srgbClr val="333333"/>
                </a:solidFill>
                <a:latin typeface="AOK Bundesweit"/>
              </a:rPr>
              <a:t> 140.000 €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AOK Bundesweit"/>
              </a:rPr>
              <a:t>Sonstige öffentl. AG:</a:t>
            </a:r>
            <a:r>
              <a:rPr sz="1100" b="0">
                <a:solidFill>
                  <a:srgbClr val="333333"/>
                </a:solidFill>
                <a:latin typeface="AOK Bundesweit"/>
              </a:rPr>
              <a:t> 216.000 €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AOK Bundesweit"/>
              </a:rPr>
              <a:t>Sektorenauftraggeber:</a:t>
            </a:r>
            <a:r>
              <a:rPr sz="1100" b="0">
                <a:solidFill>
                  <a:srgbClr val="333333"/>
                </a:solidFill>
                <a:latin typeface="AOK Bundesweit"/>
              </a:rPr>
              <a:t> 432.000 €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AOK Bundesweit"/>
              </a:rPr>
              <a:t>Unterschwellenbereich (UVgO):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AOK Bundesweit"/>
              </a:rPr>
              <a:t>Direktvergabe:</a:t>
            </a:r>
            <a:r>
              <a:rPr sz="1100" b="0">
                <a:solidFill>
                  <a:srgbClr val="333333"/>
                </a:solidFill>
                <a:latin typeface="AOK Bundesweit"/>
              </a:rPr>
              <a:t> bis 100.000 € möglich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AOK Bundesweit"/>
              </a:rPr>
              <a:t>Praxis:</a:t>
            </a:r>
            <a:r>
              <a:rPr sz="1100" b="0">
                <a:solidFill>
                  <a:srgbClr val="333333"/>
                </a:solidFill>
                <a:latin typeface="AOK Bundesweit"/>
              </a:rPr>
              <a:t> Bei VDI-Projekten wird der Schwellenwert über die Vertragslaufzeit (5 J.) fast immer überschritten → EU-weite Ausschreibung erforderlich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rPr sz="1300" b="1">
                <a:solidFill>
                  <a:srgbClr val="007B3E"/>
                </a:solidFill>
                <a:latin typeface="AOK Bundesweit"/>
              </a:rPr>
              <a:t>EVB-IT Vertragstypen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EVB-IT System — On-Premises VDI + Hardware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EVB-IT Cloud — Cloud-VDI (AVD, Azure Local); C5-Testat erforderlich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EVB-IT Überlassung Typ B — Softwarelizenzen (z.B. UDS Enterprise)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EVB-IT Pflege S — Wartung und Patching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EVB-IT Dienstvertrag — Implementierung/Beratung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AOK Bundesweit"/>
              </a:rPr>
              <a:t>EVB-IT Rahmenvereinbarung — Modulare VDI-Leistungen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C00000"/>
                </a:solidFill>
                <a:latin typeface="AOK Bundesweit"/>
              </a:rPr>
              <a:t>Pflicht: EVB-IT für Bundesbehörden (§ 55 BHO)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Vergaberecht — Schwellenwerte und Verfahren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EU-Schwellenwerte seit 01.01.2026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07B3E"/>
                </a:solidFill>
                <a:latin typeface="AOK Bundesweit"/>
              </a:rPr>
              <a:t>Produktneutrale Ausschreibung:</a:t>
            </a:r>
            <a:r>
              <a:rPr sz="1300" b="0">
                <a:solidFill>
                  <a:srgbClr val="333333"/>
                </a:solidFill>
                <a:latin typeface="AOK Bundesweit"/>
              </a:rPr>
              <a:t> Funktionale Anforderungen definieren, kein Produkt vorschreiben (§ 31 Abs. 6 VgV)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07B3E"/>
                </a:solidFill>
                <a:latin typeface="AOK Bundesweit"/>
              </a:rPr>
              <a:t>Losaufteilung:</a:t>
            </a:r>
            <a:r>
              <a:rPr sz="1300" b="0">
                <a:solidFill>
                  <a:srgbClr val="333333"/>
                </a:solidFill>
                <a:latin typeface="AOK Bundesweit"/>
              </a:rPr>
              <a:t> Hardware, Software, Dienstleistungen ggf. in separate Lose (§ 97 Abs. 4 GWB)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07B3E"/>
                </a:solidFill>
                <a:latin typeface="AOK Bundesweit"/>
              </a:rPr>
              <a:t>Empfohlene Zuschlagskriterien: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07B3E"/>
                </a:solidFill>
                <a:latin typeface="AOK Bundesweit"/>
              </a:rPr>
              <a:t>  Preis:</a:t>
            </a:r>
            <a:r>
              <a:rPr sz="1300" b="0">
                <a:solidFill>
                  <a:srgbClr val="333333"/>
                </a:solidFill>
                <a:latin typeface="AOK Bundesweit"/>
              </a:rPr>
              <a:t> 30–40 %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07B3E"/>
                </a:solidFill>
                <a:latin typeface="AOK Bundesweit"/>
              </a:rPr>
              <a:t>  Technische Leistungsfähigkeit:</a:t>
            </a:r>
            <a:r>
              <a:rPr sz="1300" b="0">
                <a:solidFill>
                  <a:srgbClr val="333333"/>
                </a:solidFill>
                <a:latin typeface="AOK Bundesweit"/>
              </a:rPr>
              <a:t> 20–30 %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07B3E"/>
                </a:solidFill>
                <a:latin typeface="AOK Bundesweit"/>
              </a:rPr>
              <a:t>  Datenschutz / IT-Sicherheit:</a:t>
            </a:r>
            <a:r>
              <a:rPr sz="1300" b="0">
                <a:solidFill>
                  <a:srgbClr val="333333"/>
                </a:solidFill>
                <a:latin typeface="AOK Bundesweit"/>
              </a:rPr>
              <a:t> 15–25 %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07B3E"/>
                </a:solidFill>
                <a:latin typeface="AOK Bundesweit"/>
              </a:rPr>
              <a:t>  Support und SLA:</a:t>
            </a:r>
            <a:r>
              <a:rPr sz="1300" b="0">
                <a:solidFill>
                  <a:srgbClr val="333333"/>
                </a:solidFill>
                <a:latin typeface="AOK Bundesweit"/>
              </a:rPr>
              <a:t> 10–15 %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07B3E"/>
                </a:solidFill>
                <a:latin typeface="AOK Bundesweit"/>
              </a:rPr>
              <a:t>  Migrationsfähigkeit / Exit-Strategie:</a:t>
            </a:r>
            <a:r>
              <a:rPr sz="1300" b="0">
                <a:solidFill>
                  <a:srgbClr val="333333"/>
                </a:solidFill>
                <a:latin typeface="AOK Bundesweit"/>
              </a:rPr>
              <a:t> 5–10 %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Empfohlene Zuschlagskriterien und produktneutrale Vergabe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Ausschreibungshinweise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Gewichtete Bewertungsmatrix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Bewertung und</a:t>
            </a:r>
          </a:p>
          <a:p>
            <a:r>
              <a:t>Empfehlung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Gewichtete Bewertungsmatrix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Skala: 1 (schlecht) bis 10 (sehr gut)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0000" y="1260000"/>
          <a:ext cx="9900000" cy="275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1260000"/>
                <a:gridCol w="1260000"/>
                <a:gridCol w="1260000"/>
                <a:gridCol w="1260000"/>
                <a:gridCol w="1260000"/>
                <a:gridCol w="1440000"/>
              </a:tblGrid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OK Bundesweit"/>
                        </a:rPr>
                        <a:t>Kriterium (Gewicht)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OK Bundesweit"/>
                        </a:rPr>
                        <a:t>RDS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OK Bundesweit"/>
                        </a:rPr>
                        <a:t>Azure
Local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OK Bundesweit"/>
                        </a:rPr>
                        <a:t>AVD
(Cloud)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OK Bundesweit"/>
                        </a:rPr>
                        <a:t>Omnissa
Horizon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OK Bundesweit"/>
                        </a:rPr>
                        <a:t>Open
Desktop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OK Bundesweit"/>
                        </a:rPr>
                        <a:t>Proxmox
+ UDS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</a:tr>
              <a:tr h="306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AOK Bundesweit"/>
                        </a:rPr>
                        <a:t>Kosten (25 %)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9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5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4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3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7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8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</a:tr>
              <a:tr h="306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AOK Bundesweit"/>
                        </a:rPr>
                        <a:t>Datenschutz (25 %)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8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3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7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10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9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</a:tr>
              <a:tr h="306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AOK Bundesweit"/>
                        </a:rPr>
                        <a:t>Funktionsumfang (15 %)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5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8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9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9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4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7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06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AOK Bundesweit"/>
                        </a:rPr>
                        <a:t>Support (10 %)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8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7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8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5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3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06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AOK Bundesweit"/>
                        </a:rPr>
                        <a:t>Vergaberecht (10 %)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7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5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4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9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8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</a:tr>
              <a:tr h="306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AOK Bundesweit"/>
                        </a:rPr>
                        <a:t>Zukunftssicherheit (10 %)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8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8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4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7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06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AOK Bundesweit"/>
                        </a:rPr>
                        <a:t>Betriebsaufwand (5 %)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8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5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9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5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3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OK Bundesweit"/>
                        </a:rPr>
                        <a:t>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06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OK Bundesweit"/>
                        </a:rPr>
                        <a:t>Gewichtete Summe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OK Bundesweit"/>
                        </a:rPr>
                        <a:t>7,45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OK Bundesweit"/>
                        </a:rPr>
                        <a:t>6,25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OK Bundesweit"/>
                        </a:rPr>
                        <a:t>5,60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OK Bundesweit"/>
                        </a:rPr>
                        <a:t>5,35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OK Bundesweit"/>
                        </a:rPr>
                        <a:t>6,55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OK Bundesweit"/>
                        </a:rPr>
                        <a:t>7,70</a:t>
                      </a:r>
                    </a:p>
                  </a:txBody>
                  <a:tcPr anchor="ctr">
                    <a:solidFill>
                      <a:srgbClr val="007B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07B3E"/>
                </a:solidFill>
                <a:latin typeface="AOK Bundesweit"/>
              </a:rPr>
              <a:t>1. </a:t>
            </a:r>
            <a:r>
              <a:rPr sz="1400" b="1">
                <a:solidFill>
                  <a:srgbClr val="333333"/>
                </a:solidFill>
                <a:latin typeface="AOK Bundesweit"/>
              </a:rPr>
              <a:t>Proxmox + UDS Enterprise (7,70)  </a:t>
            </a:r>
            <a:r>
              <a:rPr sz="1200" b="0">
                <a:solidFill>
                  <a:srgbClr val="666666"/>
                </a:solidFill>
                <a:latin typeface="AOK Bundesweit"/>
              </a:rPr>
              <a:t>— Bestes Gesamtpaket: Kosten, Datenschutz, Funktionalität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7B3E"/>
                </a:solidFill>
                <a:latin typeface="AOK Bundesweit"/>
              </a:rPr>
              <a:t>2. </a:t>
            </a:r>
            <a:r>
              <a:rPr sz="1400" b="1">
                <a:solidFill>
                  <a:srgbClr val="333333"/>
                </a:solidFill>
                <a:latin typeface="AOK Bundesweit"/>
              </a:rPr>
              <a:t>Windows RDS (7,45)  </a:t>
            </a:r>
            <a:r>
              <a:rPr sz="1200" b="0">
                <a:solidFill>
                  <a:srgbClr val="666666"/>
                </a:solidFill>
                <a:latin typeface="AOK Bundesweit"/>
              </a:rPr>
              <a:t>— Günstigste Lösung, aber keine echte VDI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E07C00"/>
                </a:solidFill>
                <a:latin typeface="AOK Bundesweit"/>
              </a:rPr>
              <a:t>3. </a:t>
            </a:r>
            <a:r>
              <a:rPr sz="1400" b="1">
                <a:solidFill>
                  <a:srgbClr val="333333"/>
                </a:solidFill>
                <a:latin typeface="AOK Bundesweit"/>
              </a:rPr>
              <a:t>OpenDesktop (6,55)  </a:t>
            </a:r>
            <a:r>
              <a:rPr sz="1200" b="0">
                <a:solidFill>
                  <a:srgbClr val="666666"/>
                </a:solidFill>
                <a:latin typeface="AOK Bundesweit"/>
              </a:rPr>
              <a:t>— Maximale Datensouveränität, hoher Personalaufwand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E07C00"/>
                </a:solidFill>
                <a:latin typeface="AOK Bundesweit"/>
              </a:rPr>
              <a:t>4. </a:t>
            </a:r>
            <a:r>
              <a:rPr sz="1400" b="1">
                <a:solidFill>
                  <a:srgbClr val="333333"/>
                </a:solidFill>
                <a:latin typeface="AOK Bundesweit"/>
              </a:rPr>
              <a:t>Azure Local (6,25)  </a:t>
            </a:r>
            <a:r>
              <a:rPr sz="1200" b="0">
                <a:solidFill>
                  <a:srgbClr val="666666"/>
                </a:solidFill>
                <a:latin typeface="AOK Bundesweit"/>
              </a:rPr>
              <a:t>— Guter Kompromiss, aber teuer und MS-abhängig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C00000"/>
                </a:solidFill>
                <a:latin typeface="AOK Bundesweit"/>
              </a:rPr>
              <a:t>5. </a:t>
            </a:r>
            <a:r>
              <a:rPr sz="1400" b="1">
                <a:solidFill>
                  <a:srgbClr val="333333"/>
                </a:solidFill>
                <a:latin typeface="AOK Bundesweit"/>
              </a:rPr>
              <a:t>Azure Virtual Desktop (5,60)  </a:t>
            </a:r>
            <a:r>
              <a:rPr sz="1200" b="0">
                <a:solidFill>
                  <a:srgbClr val="666666"/>
                </a:solidFill>
                <a:latin typeface="AOK Bundesweit"/>
              </a:rPr>
              <a:t>— Technisch stark, Datenschutz kritisch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C00000"/>
                </a:solidFill>
                <a:latin typeface="AOK Bundesweit"/>
              </a:rPr>
              <a:t>6. </a:t>
            </a:r>
            <a:r>
              <a:rPr sz="1400" b="1">
                <a:solidFill>
                  <a:srgbClr val="333333"/>
                </a:solidFill>
                <a:latin typeface="AOK Bundesweit"/>
              </a:rPr>
              <a:t>Omnissa Horizon (5,35)  </a:t>
            </a:r>
            <a:r>
              <a:rPr sz="1200" b="0">
                <a:solidFill>
                  <a:srgbClr val="666666"/>
                </a:solidFill>
                <a:latin typeface="AOK Bundesweit"/>
              </a:rPr>
              <a:t>— Technisch ausgereift, Kosten-/KKR-Risiko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Ergebnis der gewichteten Bewertung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Rangfolge und Handlungsempfehlung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007B3E"/>
                </a:solidFill>
                <a:latin typeface="AOK Bundesweit"/>
              </a:rPr>
              <a:t>Kurzfristig / einfache Anforderungen: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OK Bundesweit"/>
              </a:rPr>
              <a:t>Windows RDS als bewährte, kostengünstige Lösung für sitzungsbasierte Desktops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007B3E"/>
                </a:solidFill>
                <a:latin typeface="AOK Bundesweit"/>
              </a:rPr>
              <a:t>Mittelfristig / VDI-Einstieg: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OK Bundesweit"/>
              </a:rPr>
              <a:t>Proxmox VE + UDS Enterprise als kosteneffiziente, datenschutzkonforme Lösung mit europäischen Herstellern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007B3E"/>
                </a:solidFill>
                <a:latin typeface="AOK Bundesweit"/>
              </a:rPr>
              <a:t>Strategisch / Digitale Souveränität: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OK Bundesweit"/>
              </a:rPr>
              <a:t>Evaluierung einer Open-Source-Strategie (Proxmox/OpenDesktop) im Einklang mit der Digitalstrategie der öffentlichen Verwaltung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E07C00"/>
                </a:solidFill>
                <a:latin typeface="AOK Bundesweit"/>
              </a:rPr>
              <a:t>Mit Vorsicht: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OK Bundesweit"/>
              </a:rPr>
              <a:t>Omnissa Horizon (KKR-/vSphere-Kostenrisiko) und reine AVD-Cloud (Datenschutzrisiko) nur nach umfassender Risiko- und Kosten-Analyse; AVD ggf. über Delos Cloud evaluieren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Strategische Empfehlung für die VDI-Einführung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Handlungsempfehlung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007B3E"/>
                </a:solidFill>
                <a:latin typeface="AOK Bundesweit"/>
              </a:rPr>
              <a:t>1.  Anforderungsanalyse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666666"/>
                </a:solidFill>
                <a:latin typeface="AOK Bundesweit"/>
              </a:rPr>
              <a:t>     Exakte Nutzerzahl, Anwendungslandschaft, Performance definieren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007B3E"/>
                </a:solidFill>
                <a:latin typeface="AOK Bundesweit"/>
              </a:rPr>
              <a:t>2.  Datenschutz-Folgenabschätzung (DSFA)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666666"/>
                </a:solidFill>
                <a:latin typeface="AOK Bundesweit"/>
              </a:rPr>
              <a:t>     Durchführung für favorisierte Lösungen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007B3E"/>
                </a:solidFill>
                <a:latin typeface="AOK Bundesweit"/>
              </a:rPr>
              <a:t>3.  Proof of Concept (PoC)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666666"/>
                </a:solidFill>
                <a:latin typeface="AOK Bundesweit"/>
              </a:rPr>
              <a:t>     Pilotierung mit 2-3 favorisierten Lösungen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007B3E"/>
                </a:solidFill>
                <a:latin typeface="AOK Bundesweit"/>
              </a:rPr>
              <a:t>4.  Abstimmung mit dem DSB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666666"/>
                </a:solidFill>
                <a:latin typeface="AOK Bundesweit"/>
              </a:rPr>
              <a:t>     Datenschutzbeauftragten einbeziehen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007B3E"/>
                </a:solidFill>
                <a:latin typeface="AOK Bundesweit"/>
              </a:rPr>
              <a:t>5.  Marktrecherche (§ 28 VgV)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666666"/>
                </a:solidFill>
                <a:latin typeface="AOK Bundesweit"/>
              </a:rPr>
              <a:t>     Markterkundung und Lieferantengespräche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007B3E"/>
                </a:solidFill>
                <a:latin typeface="AOK Bundesweit"/>
              </a:rPr>
              <a:t>6.  Vergabeunterlage erstellen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666666"/>
                </a:solidFill>
                <a:latin typeface="AOK Bundesweit"/>
              </a:rPr>
              <a:t>     Funktionale Leistungsbeschreibung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007B3E"/>
                </a:solidFill>
                <a:latin typeface="AOK Bundesweit"/>
              </a:rPr>
              <a:t>7.  EU-weite Ausschreibung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666666"/>
                </a:solidFill>
                <a:latin typeface="AOK Bundesweit"/>
              </a:rPr>
              <a:t>     Sofern Schwellenwert überschritten (sehr wahrscheinlich)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Fahrplan zur VDI-Einführung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Nächste Schritte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OK PPT Template 2021">
  <a:themeElements>
    <a:clrScheme name="Benutzerdefiniert 8">
      <a:dk1>
        <a:srgbClr val="000000"/>
      </a:dk1>
      <a:lt1>
        <a:srgbClr val="FFFFFF"/>
      </a:lt1>
      <a:dk2>
        <a:srgbClr val="17AB41"/>
      </a:dk2>
      <a:lt2>
        <a:srgbClr val="005E3F"/>
      </a:lt2>
      <a:accent1>
        <a:srgbClr val="005E3F"/>
      </a:accent1>
      <a:accent2>
        <a:srgbClr val="17AB41"/>
      </a:accent2>
      <a:accent3>
        <a:srgbClr val="60D26D"/>
      </a:accent3>
      <a:accent4>
        <a:srgbClr val="07983E"/>
      </a:accent4>
      <a:accent5>
        <a:srgbClr val="35BF50"/>
      </a:accent5>
      <a:accent6>
        <a:srgbClr val="98E692"/>
      </a:accent6>
      <a:hlink>
        <a:srgbClr val="005E3F"/>
      </a:hlink>
      <a:folHlink>
        <a:srgbClr val="18AB42"/>
      </a:folHlink>
    </a:clrScheme>
    <a:fontScheme name="AOK">
      <a:majorFont>
        <a:latin typeface="AOK Buenos Aires SemiBold"/>
        <a:ea typeface=""/>
        <a:cs typeface=""/>
      </a:majorFont>
      <a:minorFont>
        <a:latin typeface="AOK Buenos Air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dirty="0" smtClean="0"/>
        </a:defPPr>
      </a:lstStyle>
    </a:txDef>
  </a:objectDefaults>
  <a:extraClrSchemeLst/>
  <a:custClrLst>
    <a:custClr name="AOK Hellgrün">
      <a:srgbClr val="50EB5D"/>
    </a:custClr>
    <a:custClr name="Grau 8">
      <a:srgbClr val="40484D"/>
    </a:custClr>
    <a:custClr name="Grau 6">
      <a:srgbClr val="6D767C"/>
    </a:custClr>
    <a:custClr name="Akzentgelb">
      <a:srgbClr val="FFF133"/>
    </a:custClr>
    <a:custClr name="Akzentblau">
      <a:srgbClr val="83EAF2"/>
    </a:custClr>
    <a:custClr name="Interaktivgrün">
      <a:srgbClr val="91F54A"/>
    </a:custClr>
    <a:custClr name="Pastellgrün">
      <a:srgbClr val="EBFAE8"/>
    </a:custClr>
    <a:custClr name="Pastellblau">
      <a:srgbClr val="E8F4F2"/>
    </a:custClr>
    <a:custClr name="Sand">
      <a:srgbClr val="F8F5E3"/>
    </a:custClr>
    <a:custClr name="Fehler">
      <a:srgbClr val="EB0047"/>
    </a:custClr>
    <a:custClr name="Weiß">
      <a:srgbClr val="FFFFFF"/>
    </a:custClr>
    <a:custClr name="Weiß">
      <a:srgbClr val="FFFFFF"/>
    </a:custClr>
    <a:custClr name="Weiß">
      <a:srgbClr val="FFFFFF"/>
    </a:custClr>
    <a:custClr name="Weiß">
      <a:srgbClr val="FFFFFF"/>
    </a:custClr>
    <a:custClr name="Weiß">
      <a:srgbClr val="FFFFFF"/>
    </a:custClr>
    <a:custClr name="Weiß">
      <a:srgbClr val="FFFFFF"/>
    </a:custClr>
    <a:custClr name="Weiß">
      <a:srgbClr val="FFFFFF"/>
    </a:custClr>
    <a:custClr name="Weiß">
      <a:srgbClr val="FFFFFF"/>
    </a:custClr>
    <a:custClr name="Weiß">
      <a:srgbClr val="FFFFFF"/>
    </a:custClr>
    <a:custClr name="Weiß">
      <a:srgbClr val="FFFFFF"/>
    </a:custClr>
    <a:custClr name="Grün 8">
      <a:srgbClr val="005E3F"/>
    </a:custClr>
    <a:custClr name="Grün 4">
      <a:srgbClr val="18AB42"/>
    </a:custClr>
    <a:custClr name="Gelb">
      <a:srgbClr val="F5D954"/>
    </a:custClr>
    <a:custClr name="Hellblau Schatten">
      <a:srgbClr val="52B0BF"/>
    </a:custClr>
    <a:custClr name="Indigo Schatten">
      <a:srgbClr val="0F3580"/>
    </a:custClr>
    <a:custClr name="Violett">
      <a:srgbClr val="8263B0"/>
    </a:custClr>
    <a:custClr name="Orange">
      <a:srgbClr val="FA8C4A"/>
    </a:custClr>
    <a:custClr name="Violett Schatten">
      <a:srgbClr val="613385"/>
    </a:custClr>
    <a:custClr name="Rot">
      <a:srgbClr val="FA545E"/>
    </a:custClr>
    <a:custClr name="Indigo">
      <a:srgbClr val="526FB0"/>
    </a:custClr>
    <a:custClr name="Limette">
      <a:srgbClr val="B8D94A"/>
    </a:custClr>
    <a:custClr name="Rot Schatten">
      <a:srgbClr val="C40D38"/>
    </a:custClr>
    <a:custClr name="Hellblau">
      <a:srgbClr val="94D4DB"/>
    </a:custClr>
    <a:custClr name="Orange Schatten">
      <a:srgbClr val="CC591F"/>
    </a:custClr>
    <a:custClr name="Limette Schatten">
      <a:srgbClr val="8FB824"/>
    </a:custClr>
  </a:custClrLst>
  <a:extLst>
    <a:ext uri="{05A4C25C-085E-4340-85A3-A5531E510DB2}">
      <thm15:themeFamily xmlns:thm15="http://schemas.microsoft.com/office/thememl/2012/main" name="AOK PPT Template 2021.potx" id="{53A47877-4910-4CEB-8438-E8EAB89D73EF}" vid="{5C28F9ED-0190-451F-BB6E-5FCA89006964}"/>
    </a:ext>
  </a:extLst>
</a:theme>
</file>

<file path=ppt/theme/theme2.xml><?xml version="1.0" encoding="utf-8"?>
<a:theme xmlns:a="http://schemas.openxmlformats.org/drawingml/2006/main" name="Office">
  <a:themeElements>
    <a:clrScheme name="AOK">
      <a:dk1>
        <a:srgbClr val="000000"/>
      </a:dk1>
      <a:lt1>
        <a:srgbClr val="FFFFFF"/>
      </a:lt1>
      <a:dk2>
        <a:srgbClr val="50EB5D"/>
      </a:dk2>
      <a:lt2>
        <a:srgbClr val="005E3F"/>
      </a:lt2>
      <a:accent1>
        <a:srgbClr val="18AB42"/>
      </a:accent1>
      <a:accent2>
        <a:srgbClr val="FFF133"/>
      </a:accent2>
      <a:accent3>
        <a:srgbClr val="84E2F5"/>
      </a:accent3>
      <a:accent4>
        <a:srgbClr val="91F54A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AOK">
      <a:majorFont>
        <a:latin typeface="AOK Buenos Aires SemiBold"/>
        <a:ea typeface=""/>
        <a:cs typeface=""/>
      </a:majorFont>
      <a:minorFont>
        <a:latin typeface="AOK Buenos Air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AOK">
      <a:dk1>
        <a:srgbClr val="000000"/>
      </a:dk1>
      <a:lt1>
        <a:srgbClr val="FFFFFF"/>
      </a:lt1>
      <a:dk2>
        <a:srgbClr val="18AB42"/>
      </a:dk2>
      <a:lt2>
        <a:srgbClr val="005E3F"/>
      </a:lt2>
      <a:accent1>
        <a:srgbClr val="005E3F"/>
      </a:accent1>
      <a:accent2>
        <a:srgbClr val="028440"/>
      </a:accent2>
      <a:accent3>
        <a:srgbClr val="17AB41"/>
      </a:accent3>
      <a:accent4>
        <a:srgbClr val="35BF50"/>
      </a:accent4>
      <a:accent5>
        <a:srgbClr val="60D26D"/>
      </a:accent5>
      <a:accent6>
        <a:srgbClr val="98E692"/>
      </a:accent6>
      <a:hlink>
        <a:srgbClr val="005E3F"/>
      </a:hlink>
      <a:folHlink>
        <a:srgbClr val="18AB42"/>
      </a:folHlink>
    </a:clrScheme>
    <a:fontScheme name="AOK">
      <a:majorFont>
        <a:latin typeface="AOK Buenos Aires SemiBold"/>
        <a:ea typeface=""/>
        <a:cs typeface=""/>
      </a:majorFont>
      <a:minorFont>
        <a:latin typeface="AOK Buenos Air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AOK NDS Dokument" ma:contentTypeID="0x0101008A8784F62BDC429FA6AF2FDBAEC39A11009A33215E06E36F4C894E2822C2D58A1C" ma:contentTypeVersion="19" ma:contentTypeDescription="AOK NDS Dokument" ma:contentTypeScope="" ma:versionID="6a078080ef790e64dc5ce66faea93810">
  <xsd:schema xmlns:xsd="http://www.w3.org/2001/XMLSchema" xmlns:xs="http://www.w3.org/2001/XMLSchema" xmlns:p="http://schemas.microsoft.com/office/2006/metadata/properties" xmlns:ns2="http://schemas.microsoft.com/sharepoint/v4/fields" xmlns:ns3="0daa1036-ae84-48ac-98bb-3d5c2cf0c434" xmlns:ns4="0545d6a5-1a94-4b4f-9fcb-b225220a1ce3" targetNamespace="http://schemas.microsoft.com/office/2006/metadata/properties" ma:root="true" ma:fieldsID="4bd0a77306b4636892e839a0a2c6be50" ns2:_="" ns3:_="" ns4:_="">
    <xsd:import namespace="http://schemas.microsoft.com/sharepoint/v4/fields"/>
    <xsd:import namespace="0daa1036-ae84-48ac-98bb-3d5c2cf0c434"/>
    <xsd:import namespace="0545d6a5-1a94-4b4f-9fcb-b225220a1ce3"/>
    <xsd:element name="properties">
      <xsd:complexType>
        <xsd:sequence>
          <xsd:element name="documentManagement">
            <xsd:complexType>
              <xsd:all>
                <xsd:element ref="ns2:triExpires"/>
                <xsd:element ref="ns3:triDocumentTypTaxHTField0" minOccurs="0"/>
                <xsd:element ref="ns3:triDocumentClassTaxHTField0" minOccurs="0"/>
                <xsd:element ref="ns3:triResponsListMitarbeiter" minOccurs="0"/>
                <xsd:element ref="ns4:TaxKeywordTaxHTField" minOccurs="0"/>
                <xsd:element ref="ns4:TaxCatchAll" minOccurs="0"/>
                <xsd:element ref="ns4:TaxCatchAllLabel" minOccurs="0"/>
                <xsd:element ref="ns3:triThemesTaxHTField0" minOccurs="0"/>
                <xsd:element ref="ns3:triServicesTaxHTField0" minOccurs="0"/>
                <xsd:element ref="ns3:triOrgUnitsTaxHTField0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/fields" elementFormDefault="qualified">
    <xsd:import namespace="http://schemas.microsoft.com/office/2006/documentManagement/types"/>
    <xsd:import namespace="http://schemas.microsoft.com/office/infopath/2007/PartnerControls"/>
    <xsd:element name="triExpires" ma:index="8" ma:displayName="Gültig bis" ma:description="Datum, zu dem dieser Artikel dem Ersteller zur Prüfung zugesandt wird." ma:format="DateOnly" ma:internalName="triExpires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aa1036-ae84-48ac-98bb-3d5c2cf0c434" elementFormDefault="qualified">
    <xsd:import namespace="http://schemas.microsoft.com/office/2006/documentManagement/types"/>
    <xsd:import namespace="http://schemas.microsoft.com/office/infopath/2007/PartnerControls"/>
    <xsd:element name="triDocumentTypTaxHTField0" ma:index="10" ma:taxonomy="true" ma:internalName="triDocumentTypTaxHTField0" ma:taxonomyFieldName="triDocumentTyp" ma:displayName="Dokumentenart" ma:readOnly="false" ma:default="" ma:fieldId="{c81e9642-db41-4301-8bae-354ca48a7cf2}" ma:sspId="b3ea3c48-0d2d-495f-9df1-33170700d319" ma:termSetId="31422e1a-1a0b-44dc-a885-808c2b0294f4" ma:anchorId="44c4774c-34ad-43e9-84d1-5bc2319b6e84" ma:open="false" ma:isKeyword="false">
      <xsd:complexType>
        <xsd:sequence>
          <xsd:element ref="pc:Terms" minOccurs="0" maxOccurs="1"/>
        </xsd:sequence>
      </xsd:complexType>
    </xsd:element>
    <xsd:element name="triDocumentClassTaxHTField0" ma:index="12" nillable="true" ma:taxonomy="true" ma:internalName="triDocumentClassTaxHTField0" ma:taxonomyFieldName="triDocumentClass" ma:displayName="Dokumentenklasse" ma:fieldId="{7e7c83a9-62d1-484b-8800-ffd2b71eba26}" ma:sspId="b3ea3c48-0d2d-495f-9df1-33170700d319" ma:termSetId="b288869c-3b53-4f55-96db-db5a28ced83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riResponsListMitarbeiter" ma:index="13" nillable="true" ma:displayName="Ansprechpartner" ma:description="" ma:internalName="triResponsListMitarbeiter" ma:readOnly="false" ma:showField="Titl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triThemesTaxHTField0" ma:index="21" ma:taxonomy="true" ma:internalName="triThemesTaxHTField0" ma:taxonomyFieldName="triThemes" ma:displayName="Themen" ma:readOnly="false" ma:fieldId="{abc9bfb6-9a48-4137-a12a-8093da2ffe49}" ma:taxonomyMulti="true" ma:sspId="b3ea3c48-0d2d-495f-9df1-33170700d319" ma:termSetId="6276b3a1-0eda-49e7-9ce5-e239f53c7931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riServicesTaxHTField0" ma:index="22" nillable="true" ma:taxonomy="true" ma:internalName="triServicesTaxHTField0" ma:taxonomyFieldName="triServices" ma:displayName="Anwendungen &amp; Tools" ma:fieldId="{4b29b0d2-ba08-4518-80f8-27ba97d69ec3}" ma:taxonomyMulti="true" ma:sspId="b3ea3c48-0d2d-495f-9df1-33170700d319" ma:termSetId="bfedb8a0-f167-4d33-9d0b-32f24b046c8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riOrgUnitsTaxHTField0" ma:index="23" nillable="true" ma:taxonomy="true" ma:internalName="triOrgUnitsTaxHTField0" ma:taxonomyFieldName="triOrgUnits" ma:displayName="Organisationseinheiten" ma:fieldId="{ed58d200-abfd-4d44-941e-63b1799aac0d}" ma:taxonomyMulti="true" ma:sspId="b3ea3c48-0d2d-495f-9df1-33170700d319" ma:termSetId="c6b350f1-6206-471e-9868-db64584d4bec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45d6a5-1a94-4b4f-9fcb-b225220a1ce3" elementFormDefault="qualified">
    <xsd:import namespace="http://schemas.microsoft.com/office/2006/documentManagement/types"/>
    <xsd:import namespace="http://schemas.microsoft.com/office/infopath/2007/PartnerControls"/>
    <xsd:element name="TaxKeywordTaxHTField" ma:index="17" nillable="true" ma:taxonomy="true" ma:internalName="TaxKeywordTaxHTField" ma:taxonomyFieldName="TaxKeyword" ma:displayName="Unternehmensstichwörter" ma:fieldId="{23f27201-bee3-471e-b2e7-b64fd8b7ca38}" ma:taxonomyMulti="true" ma:sspId="b3ea3c48-0d2d-495f-9df1-33170700d319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TaxCatchAll" ma:index="18" nillable="true" ma:displayName="Taxonomiespalte &quot;Alle abfangen&quot;" ma:description="" ma:hidden="true" ma:list="{47161054-9c51-424c-a7d6-9b5cb67c5732}" ma:internalName="TaxCatchAll" ma:showField="CatchAllData" ma:web="0545d6a5-1a94-4b4f-9fcb-b225220a1c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9" nillable="true" ma:displayName="Taxonomiespalte &quot;Alle abfangen&quot;1" ma:description="" ma:hidden="true" ma:list="{47161054-9c51-424c-a7d6-9b5cb67c5732}" ma:internalName="TaxCatchAllLabel" ma:readOnly="true" ma:showField="CatchAllDataLabel" ma:web="0545d6a5-1a94-4b4f-9fcb-b225220a1c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riDocumentTypTaxHTField0 xmlns="0daa1036-ae84-48ac-98bb-3d5c2cf0c434">
      <Terms xmlns="http://schemas.microsoft.com/office/infopath/2007/PartnerControls">
        <TermInfo xmlns="http://schemas.microsoft.com/office/infopath/2007/PartnerControls">
          <TermName xmlns="http://schemas.microsoft.com/office/infopath/2007/PartnerControls">Office-Vorlage</TermName>
          <TermId xmlns="http://schemas.microsoft.com/office/infopath/2007/PartnerControls">d1377ae8-aac1-4456-ab99-9a9824dd1c70</TermId>
        </TermInfo>
      </Terms>
    </triDocumentTypTaxHTField0>
    <triOrgUnitsTaxHTField0 xmlns="0daa1036-ae84-48ac-98bb-3d5c2cf0c434">
      <Terms xmlns="http://schemas.microsoft.com/office/infopath/2007/PartnerControls"/>
    </triOrgUnitsTaxHTField0>
    <triResponsListMitarbeiter xmlns="0daa1036-ae84-48ac-98bb-3d5c2cf0c434">
      <UserInfo>
        <DisplayName/>
        <AccountId xsi:nil="true"/>
        <AccountType/>
      </UserInfo>
    </triResponsListMitarbeiter>
    <triDocumentClassTaxHTField0 xmlns="0daa1036-ae84-48ac-98bb-3d5c2cf0c434">
      <Terms xmlns="http://schemas.microsoft.com/office/infopath/2007/PartnerControls"/>
    </triDocumentClassTaxHTField0>
    <triServicesTaxHTField0 xmlns="0daa1036-ae84-48ac-98bb-3d5c2cf0c434">
      <Terms xmlns="http://schemas.microsoft.com/office/infopath/2007/PartnerControls">
        <TermInfo xmlns="http://schemas.microsoft.com/office/infopath/2007/PartnerControls">
          <TermName xmlns="http://schemas.microsoft.com/office/infopath/2007/PartnerControls">PowerPoint</TermName>
          <TermId xmlns="http://schemas.microsoft.com/office/infopath/2007/PartnerControls">a3e71988-a03c-4ea5-b00d-ad0365fa6dd3</TermId>
        </TermInfo>
      </Terms>
    </triServicesTaxHTField0>
    <TaxCatchAll xmlns="0545d6a5-1a94-4b4f-9fcb-b225220a1ce3">
      <Value>4</Value>
      <Value>837</Value>
      <Value>1351</Value>
    </TaxCatchAll>
    <triThemesTaxHTField0 xmlns="0daa1036-ae84-48ac-98bb-3d5c2cf0c434">
      <Terms xmlns="http://schemas.microsoft.com/office/infopath/2007/PartnerControls">
        <TermInfo xmlns="http://schemas.microsoft.com/office/infopath/2007/PartnerControls">
          <TermName xmlns="http://schemas.microsoft.com/office/infopath/2007/PartnerControls">AOK-intern</TermName>
          <TermId xmlns="http://schemas.microsoft.com/office/infopath/2007/PartnerControls">cfe28683-99c9-4ddf-9db1-cb137adb25fd</TermId>
        </TermInfo>
      </Terms>
    </triThemesTaxHTField0>
    <triExpires xmlns="http://schemas.microsoft.com/sharepoint/v4/fields">2023-07-11T22:00:00+00:00</triExpires>
    <TaxKeywordTaxHTField xmlns="0545d6a5-1a94-4b4f-9fcb-b225220a1ce3">
      <Terms xmlns="http://schemas.microsoft.com/office/infopath/2007/PartnerControls"/>
    </TaxKeywordTaxHTField>
  </documentManagement>
</p:properties>
</file>

<file path=customXml/itemProps1.xml><?xml version="1.0" encoding="utf-8"?>
<ds:datastoreItem xmlns:ds="http://schemas.openxmlformats.org/officeDocument/2006/customXml" ds:itemID="{C203E196-4C15-4B6B-9EBB-D7CE5E4371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4/fields"/>
    <ds:schemaRef ds:uri="0daa1036-ae84-48ac-98bb-3d5c2cf0c434"/>
    <ds:schemaRef ds:uri="0545d6a5-1a94-4b4f-9fcb-b225220a1ce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A853F19-DB18-4EA7-87B8-CCD65615E61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54A09C-5453-40F6-B2BE-0D6BF671E6A2}">
  <ds:schemaRefs>
    <ds:schemaRef ds:uri="http://purl.org/dc/terms/"/>
    <ds:schemaRef ds:uri="http://schemas.openxmlformats.org/package/2006/metadata/core-properties"/>
    <ds:schemaRef ds:uri="0545d6a5-1a94-4b4f-9fcb-b225220a1ce3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0daa1036-ae84-48ac-98bb-3d5c2cf0c434"/>
    <ds:schemaRef ds:uri="http://schemas.microsoft.com/sharepoint/v4/field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AOK PPT Master (1)</Template>
  <TotalTime>0</TotalTime>
  <Words>0</Words>
  <Application>Microsoft Office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AOK Buenos Aires</vt:lpstr>
      <vt:lpstr>AOK Buenos Aires SemiBold</vt:lpstr>
      <vt:lpstr>AOK PPT Template 2021</vt:lpstr>
      <vt:lpstr>PowerPoint-Präsentation</vt:lpstr>
    </vt:vector>
  </TitlesOfParts>
  <Company>ARGE Rechenzentrum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Seyfi, Jasmin</dc:creator>
  <cp:keywords/>
  <cp:lastModifiedBy>Schünke, Janik</cp:lastModifiedBy>
  <cp:revision>7</cp:revision>
  <dcterms:created xsi:type="dcterms:W3CDTF">2021-07-12T11:56:06Z</dcterms:created>
  <dcterms:modified xsi:type="dcterms:W3CDTF">2025-08-06T21:50:31Z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0x0101008A8784F62BDC429FA6AF2FDBAEC39A11009A33215E06E36F4C894E2822C2D58A1C</vt:lpwstr>
  </property>
  <property fmtid="{D5CDD505-2E9C-101B-9397-08002B2CF9AE}" pid="3" name="triThemes">
    <vt:lpwstr>4;#AOK-intern|cfe28683-99c9-4ddf-9db1-cb137adb25fd</vt:lpwstr>
  </property>
  <property fmtid="{D5CDD505-2E9C-101B-9397-08002B2CF9AE}" pid="4" name="triServices">
    <vt:lpwstr>837;#PowerPoint|a3e71988-a03c-4ea5-b00d-ad0365fa6dd3</vt:lpwstr>
  </property>
  <property fmtid="{D5CDD505-2E9C-101B-9397-08002B2CF9AE}" pid="5" name="TaxKeyword">
    <vt:lpwstr/>
  </property>
  <property fmtid="{D5CDD505-2E9C-101B-9397-08002B2CF9AE}" pid="6" name="triDocumentClass">
    <vt:lpwstr/>
  </property>
  <property fmtid="{D5CDD505-2E9C-101B-9397-08002B2CF9AE}" pid="7" name="triOrgUnits">
    <vt:lpwstr/>
  </property>
  <property fmtid="{D5CDD505-2E9C-101B-9397-08002B2CF9AE}" pid="8" name="triDocumentTyp">
    <vt:lpwstr>1351;#Office-Vorlage|d1377ae8-aac1-4456-ab99-9a9824dd1c70</vt:lpwstr>
  </property>
</Properties>
</file>